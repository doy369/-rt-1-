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sldIdLst>
    <p:sldId id="305" r:id="rId4"/>
    <p:sldId id="306" r:id="rId6"/>
    <p:sldId id="307" r:id="rId7"/>
    <p:sldId id="308" r:id="rId8"/>
    <p:sldId id="339" r:id="rId9"/>
    <p:sldId id="351" r:id="rId10"/>
    <p:sldId id="352" r:id="rId11"/>
    <p:sldId id="353" r:id="rId12"/>
    <p:sldId id="354" r:id="rId13"/>
    <p:sldId id="355" r:id="rId14"/>
    <p:sldId id="314" r:id="rId15"/>
    <p:sldId id="310" r:id="rId16"/>
    <p:sldId id="347" r:id="rId17"/>
    <p:sldId id="348" r:id="rId18"/>
    <p:sldId id="349" r:id="rId19"/>
    <p:sldId id="350" r:id="rId20"/>
    <p:sldId id="324" r:id="rId21"/>
    <p:sldId id="342" r:id="rId22"/>
    <p:sldId id="321" r:id="rId23"/>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2" userDrawn="1">
          <p15:clr>
            <a:srgbClr val="A4A3A4"/>
          </p15:clr>
        </p15:guide>
        <p15:guide id="2" pos="3868" userDrawn="1">
          <p15:clr>
            <a:srgbClr val="A4A3A4"/>
          </p15:clr>
        </p15:guide>
        <p15:guide id="3" orient="horz" pos="983" userDrawn="1">
          <p15:clr>
            <a:srgbClr val="A4A3A4"/>
          </p15:clr>
        </p15:guide>
        <p15:guide id="4" orient="horz" pos="3906" userDrawn="1">
          <p15:clr>
            <a:srgbClr val="A4A3A4"/>
          </p15:clr>
        </p15:guide>
        <p15:guide id="5" pos="823" userDrawn="1">
          <p15:clr>
            <a:srgbClr val="A4A3A4"/>
          </p15:clr>
        </p15:guide>
        <p15:guide id="6" pos="68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4371"/>
    <a:srgbClr val="78828C"/>
    <a:srgbClr val="64C8B4"/>
    <a:srgbClr val="F2F2F2"/>
    <a:srgbClr val="FA8C8C"/>
    <a:srgbClr val="FAA078"/>
    <a:srgbClr val="FAB464"/>
    <a:srgbClr val="82AA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424" autoAdjust="0"/>
  </p:normalViewPr>
  <p:slideViewPr>
    <p:cSldViewPr snapToGrid="0" showGuides="1">
      <p:cViewPr varScale="1">
        <p:scale>
          <a:sx n="86" d="100"/>
          <a:sy n="86" d="100"/>
        </p:scale>
        <p:origin x="646" y="85"/>
      </p:cViewPr>
      <p:guideLst>
        <p:guide orient="horz" pos="2212"/>
        <p:guide pos="3868"/>
        <p:guide orient="horz" pos="983"/>
        <p:guide orient="horz" pos="3906"/>
        <p:guide pos="823"/>
        <p:guide pos="68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7" Type="http://schemas.openxmlformats.org/officeDocument/2006/relationships/tags" Target="tags/tag14.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D7D14B-A7B7-4A3F-87A5-80FAA7F79D3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AA6E7-0BBB-49E4-8968-F33B5572A75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74AA6E7-0BBB-49E4-8968-F33B5572A75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74AA6E7-0BBB-49E4-8968-F33B5572A75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74AA6E7-0BBB-49E4-8968-F33B5572A75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74AA6E7-0BBB-49E4-8968-F33B5572A75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74AA6E7-0BBB-49E4-8968-F33B5572A75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74AA6E7-0BBB-49E4-8968-F33B5572A75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74AA6E7-0BBB-49E4-8968-F33B5572A75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74AA6E7-0BBB-49E4-8968-F33B5572A75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74AA6E7-0BBB-49E4-8968-F33B5572A75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74AA6E7-0BBB-49E4-8968-F33B5572A75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74AA6E7-0BBB-49E4-8968-F33B5572A75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74AA6E7-0BBB-49E4-8968-F33B5572A75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74AA6E7-0BBB-49E4-8968-F33B5572A75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74AA6E7-0BBB-49E4-8968-F33B5572A75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74AA6E7-0BBB-49E4-8968-F33B5572A75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D34B78A-F82F-482E-BA99-72EABADA6DFD}"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62EE9E7-B8DF-4A01-B351-147455F3E52E}"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7" name="矩形 6"/>
          <p:cNvSpPr/>
          <p:nvPr userDrawn="1"/>
        </p:nvSpPr>
        <p:spPr>
          <a:xfrm>
            <a:off x="0" y="0"/>
            <a:ext cx="12192000" cy="685799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p:cNvSpPr/>
          <p:nvPr userDrawn="1"/>
        </p:nvSpPr>
        <p:spPr>
          <a:xfrm>
            <a:off x="0" y="0"/>
            <a:ext cx="12192000" cy="685799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梯形 2"/>
          <p:cNvSpPr/>
          <p:nvPr userDrawn="1"/>
        </p:nvSpPr>
        <p:spPr>
          <a:xfrm>
            <a:off x="-4548" y="256529"/>
            <a:ext cx="6033874" cy="695971"/>
          </a:xfrm>
          <a:custGeom>
            <a:avLst/>
            <a:gdLst>
              <a:gd name="connsiteX0" fmla="*/ 0 w 7454900"/>
              <a:gd name="connsiteY0" fmla="*/ 787400 h 787400"/>
              <a:gd name="connsiteX1" fmla="*/ 543306 w 7454900"/>
              <a:gd name="connsiteY1" fmla="*/ 0 h 787400"/>
              <a:gd name="connsiteX2" fmla="*/ 6911594 w 7454900"/>
              <a:gd name="connsiteY2" fmla="*/ 0 h 787400"/>
              <a:gd name="connsiteX3" fmla="*/ 7454900 w 7454900"/>
              <a:gd name="connsiteY3" fmla="*/ 787400 h 787400"/>
              <a:gd name="connsiteX4" fmla="*/ 0 w 7454900"/>
              <a:gd name="connsiteY4" fmla="*/ 787400 h 787400"/>
              <a:gd name="connsiteX0-1" fmla="*/ 0 w 7454900"/>
              <a:gd name="connsiteY0-2" fmla="*/ 787400 h 787400"/>
              <a:gd name="connsiteX1-3" fmla="*/ 543306 w 7454900"/>
              <a:gd name="connsiteY1-4" fmla="*/ 0 h 787400"/>
              <a:gd name="connsiteX2-5" fmla="*/ 6911594 w 7454900"/>
              <a:gd name="connsiteY2-6" fmla="*/ 0 h 787400"/>
              <a:gd name="connsiteX3-7" fmla="*/ 7454900 w 7454900"/>
              <a:gd name="connsiteY3-8" fmla="*/ 787400 h 787400"/>
              <a:gd name="connsiteX4-9" fmla="*/ 545419 w 7454900"/>
              <a:gd name="connsiteY4-10" fmla="*/ 784984 h 787400"/>
              <a:gd name="connsiteX5" fmla="*/ 0 w 7454900"/>
              <a:gd name="connsiteY5" fmla="*/ 787400 h 787400"/>
              <a:gd name="connsiteX0-11" fmla="*/ 2113 w 6911594"/>
              <a:gd name="connsiteY0-12" fmla="*/ 784984 h 787400"/>
              <a:gd name="connsiteX1-13" fmla="*/ 0 w 6911594"/>
              <a:gd name="connsiteY1-14" fmla="*/ 0 h 787400"/>
              <a:gd name="connsiteX2-15" fmla="*/ 6368288 w 6911594"/>
              <a:gd name="connsiteY2-16" fmla="*/ 0 h 787400"/>
              <a:gd name="connsiteX3-17" fmla="*/ 6911594 w 6911594"/>
              <a:gd name="connsiteY3-18" fmla="*/ 787400 h 787400"/>
              <a:gd name="connsiteX4-19" fmla="*/ 2113 w 6911594"/>
              <a:gd name="connsiteY4-20" fmla="*/ 784984 h 787400"/>
              <a:gd name="connsiteX0-21" fmla="*/ 88 w 6914029"/>
              <a:gd name="connsiteY0-22" fmla="*/ 784984 h 787400"/>
              <a:gd name="connsiteX1-23" fmla="*/ 2435 w 6914029"/>
              <a:gd name="connsiteY1-24" fmla="*/ 0 h 787400"/>
              <a:gd name="connsiteX2-25" fmla="*/ 6370723 w 6914029"/>
              <a:gd name="connsiteY2-26" fmla="*/ 0 h 787400"/>
              <a:gd name="connsiteX3-27" fmla="*/ 6914029 w 6914029"/>
              <a:gd name="connsiteY3-28" fmla="*/ 787400 h 787400"/>
              <a:gd name="connsiteX4-29" fmla="*/ 88 w 6914029"/>
              <a:gd name="connsiteY4-30" fmla="*/ 784984 h 787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14029" h="787400">
                <a:moveTo>
                  <a:pt x="88" y="784984"/>
                </a:moveTo>
                <a:cubicBezTo>
                  <a:pt x="-616" y="523323"/>
                  <a:pt x="3139" y="261661"/>
                  <a:pt x="2435" y="0"/>
                </a:cubicBezTo>
                <a:lnTo>
                  <a:pt x="6370723" y="0"/>
                </a:lnTo>
                <a:lnTo>
                  <a:pt x="6914029" y="787400"/>
                </a:lnTo>
                <a:lnTo>
                  <a:pt x="88" y="784984"/>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mn-ea"/>
            </a:endParaRPr>
          </a:p>
        </p:txBody>
      </p:sp>
      <p:sp>
        <p:nvSpPr>
          <p:cNvPr id="3" name="流程图: 离页连接符 2"/>
          <p:cNvSpPr/>
          <p:nvPr userDrawn="1"/>
        </p:nvSpPr>
        <p:spPr>
          <a:xfrm rot="10800000">
            <a:off x="10445750" y="569345"/>
            <a:ext cx="876300" cy="384342"/>
          </a:xfrm>
          <a:prstGeom prst="flowChartOffpage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10501767" y="658245"/>
            <a:ext cx="820283" cy="276999"/>
          </a:xfrm>
          <a:prstGeom prst="rect">
            <a:avLst/>
          </a:prstGeom>
        </p:spPr>
        <p:txBody>
          <a:bodyPr lIns="68580" tIns="34290" rIns="68580" bIns="34290"/>
          <a:lstStyle/>
          <a:p>
            <a:pPr algn="ctr">
              <a:defRPr/>
            </a:pPr>
            <a:r>
              <a:rPr lang="zh-CN" altLang="en-US" sz="1200" dirty="0">
                <a:solidFill>
                  <a:schemeClr val="accent1"/>
                </a:solidFill>
                <a:latin typeface="微软雅黑" panose="020B0503020204020204" pitchFamily="34" charset="-122"/>
                <a:ea typeface="微软雅黑" panose="020B0503020204020204" pitchFamily="34" charset="-122"/>
              </a:rPr>
              <a:t>第 </a:t>
            </a:r>
            <a:fld id="{2EEF1883-7A0E-4F66-9932-E581691AD397}" type="slidenum">
              <a:rPr lang="zh-CN" altLang="en-US" sz="1200">
                <a:solidFill>
                  <a:schemeClr val="accent1"/>
                </a:solidFill>
              </a:rPr>
            </a:fld>
            <a:r>
              <a:rPr lang="zh-CN" altLang="en-US" sz="1200" dirty="0">
                <a:solidFill>
                  <a:schemeClr val="accent1"/>
                </a:solidFill>
              </a:rPr>
              <a:t>  </a:t>
            </a:r>
            <a:r>
              <a:rPr lang="zh-CN" altLang="en-US" sz="1200" dirty="0">
                <a:solidFill>
                  <a:schemeClr val="accent1"/>
                </a:solidFill>
                <a:latin typeface="微软雅黑" panose="020B0503020204020204" pitchFamily="34" charset="-122"/>
                <a:ea typeface="微软雅黑" panose="020B0503020204020204" pitchFamily="34" charset="-122"/>
              </a:rPr>
              <a:t>页</a:t>
            </a:r>
            <a:endParaRPr lang="zh-CN" altLang="en-US" sz="1200" dirty="0">
              <a:solidFill>
                <a:schemeClr val="accent1"/>
              </a:solidFill>
              <a:latin typeface="微软雅黑" panose="020B0503020204020204" pitchFamily="34" charset="-122"/>
              <a:ea typeface="微软雅黑" panose="020B0503020204020204" pitchFamily="34" charset="-122"/>
            </a:endParaRPr>
          </a:p>
        </p:txBody>
      </p:sp>
      <p:cxnSp>
        <p:nvCxnSpPr>
          <p:cNvPr id="6" name="直接连接符 5"/>
          <p:cNvCxnSpPr/>
          <p:nvPr userDrawn="1"/>
        </p:nvCxnSpPr>
        <p:spPr>
          <a:xfrm>
            <a:off x="0" y="9525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8" name="组合 7"/>
          <p:cNvGrpSpPr/>
          <p:nvPr userDrawn="1"/>
        </p:nvGrpSpPr>
        <p:grpSpPr>
          <a:xfrm>
            <a:off x="607853" y="286420"/>
            <a:ext cx="392005" cy="582206"/>
            <a:chOff x="2437632" y="1965988"/>
            <a:chExt cx="1529173" cy="2271132"/>
          </a:xfrm>
          <a:solidFill>
            <a:schemeClr val="accent1"/>
          </a:solidFill>
        </p:grpSpPr>
        <p:sp>
          <p:nvSpPr>
            <p:cNvPr id="9"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n-ea"/>
              </a:endParaRPr>
            </a:p>
          </p:txBody>
        </p:sp>
        <p:sp>
          <p:nvSpPr>
            <p:cNvPr id="10"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n-ea"/>
              </a:endParaRPr>
            </a:p>
          </p:txBody>
        </p:sp>
        <p:sp>
          <p:nvSpPr>
            <p:cNvPr id="11"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n-ea"/>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7" name="矩形 6"/>
          <p:cNvSpPr/>
          <p:nvPr userDrawn="1"/>
        </p:nvSpPr>
        <p:spPr>
          <a:xfrm>
            <a:off x="0" y="0"/>
            <a:ext cx="12192000" cy="685799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75AC3E8-5008-40C5-8D3E-80B2047460D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27F6A6-F9B0-49AE-A777-E4AA00156CB5}"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F75AC3E8-5008-40C5-8D3E-80B2047460D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27F6A6-F9B0-49AE-A777-E4AA00156CB5}"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F75AC3E8-5008-40C5-8D3E-80B2047460D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27F6A6-F9B0-49AE-A777-E4AA00156CB5}"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F75AC3E8-5008-40C5-8D3E-80B2047460D3}"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A27F6A6-F9B0-49AE-A777-E4AA00156CB5}"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F75AC3E8-5008-40C5-8D3E-80B2047460D3}"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A27F6A6-F9B0-49AE-A777-E4AA00156CB5}"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75AC3E8-5008-40C5-8D3E-80B2047460D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A27F6A6-F9B0-49AE-A777-E4AA00156CB5}"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75AC3E8-5008-40C5-8D3E-80B2047460D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27F6A6-F9B0-49AE-A777-E4AA00156CB5}"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75AC3E8-5008-40C5-8D3E-80B2047460D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A27F6A6-F9B0-49AE-A777-E4AA00156CB5}"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75AC3E8-5008-40C5-8D3E-80B2047460D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27F6A6-F9B0-49AE-A777-E4AA00156CB5}"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75AC3E8-5008-40C5-8D3E-80B2047460D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A27F6A6-F9B0-49AE-A777-E4AA00156CB5}"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3" Type="http://schemas.openxmlformats.org/officeDocument/2006/relationships/theme" Target="../theme/theme2.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34B78A-F82F-482E-BA99-72EABADA6DF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2EE9E7-B8DF-4A01-B351-147455F3E52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5AC3E8-5008-40C5-8D3E-80B2047460D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27F6A6-F9B0-49AE-A777-E4AA00156CB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notesSlide" Target="../notesSlides/notesSlide2.xml"/><Relationship Id="rId14" Type="http://schemas.openxmlformats.org/officeDocument/2006/relationships/slideLayout" Target="../slideLayouts/slideLayout4.xml"/><Relationship Id="rId13" Type="http://schemas.openxmlformats.org/officeDocument/2006/relationships/image" Target="../media/image1.png"/><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3.GI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3.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3.xml"/><Relationship Id="rId2" Type="http://schemas.openxmlformats.org/officeDocument/2006/relationships/image" Target="../media/image12.png"/><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1840595" y="1157868"/>
            <a:ext cx="1529173" cy="2271132"/>
            <a:chOff x="2437632" y="1965988"/>
            <a:chExt cx="1529173" cy="2271132"/>
          </a:xfrm>
          <a:solidFill>
            <a:schemeClr val="accent1"/>
          </a:solidFill>
        </p:grpSpPr>
        <p:sp>
          <p:nvSpPr>
            <p:cNvPr id="7"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12" name="Rectangle 8"/>
          <p:cNvSpPr>
            <a:spLocks noChangeArrowheads="1"/>
          </p:cNvSpPr>
          <p:nvPr/>
        </p:nvSpPr>
        <p:spPr bwMode="auto">
          <a:xfrm>
            <a:off x="2035470" y="3466771"/>
            <a:ext cx="8259484" cy="45719"/>
          </a:xfrm>
          <a:prstGeom prst="rect">
            <a:avLst/>
          </a:pr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5" name="文本框 14"/>
          <p:cNvSpPr txBox="1"/>
          <p:nvPr/>
        </p:nvSpPr>
        <p:spPr>
          <a:xfrm>
            <a:off x="3207938" y="1737357"/>
            <a:ext cx="7143467" cy="82994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rPr>
              <a:t>  </a:t>
            </a:r>
            <a:r>
              <a:rPr kumimoji="0" lang="zh-CN" altLang="en-US" sz="4800" b="1"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rPr>
              <a:t>本周学习进度</a:t>
            </a:r>
            <a:r>
              <a:rPr kumimoji="0" lang="zh-CN" altLang="en-US" sz="4800" b="1"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rPr>
              <a:t>汇报</a:t>
            </a:r>
            <a:endParaRPr kumimoji="0" lang="zh-CN" altLang="en-US" sz="4800" b="1"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endParaRPr>
          </a:p>
        </p:txBody>
      </p:sp>
      <p:cxnSp>
        <p:nvCxnSpPr>
          <p:cNvPr id="35" name="直接连接符 34"/>
          <p:cNvCxnSpPr/>
          <p:nvPr/>
        </p:nvCxnSpPr>
        <p:spPr>
          <a:xfrm>
            <a:off x="3579598" y="4546053"/>
            <a:ext cx="5032805"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5262339" y="4865608"/>
            <a:ext cx="1805302" cy="438785"/>
            <a:chOff x="3589123" y="4809728"/>
            <a:chExt cx="1805302" cy="438785"/>
          </a:xfrm>
        </p:grpSpPr>
        <p:grpSp>
          <p:nvGrpSpPr>
            <p:cNvPr id="29" name="组合 28"/>
            <p:cNvGrpSpPr/>
            <p:nvPr/>
          </p:nvGrpSpPr>
          <p:grpSpPr>
            <a:xfrm>
              <a:off x="3589123" y="4865562"/>
              <a:ext cx="946780" cy="335915"/>
              <a:chOff x="3061220" y="3387331"/>
              <a:chExt cx="710270" cy="252002"/>
            </a:xfrm>
          </p:grpSpPr>
          <p:sp>
            <p:nvSpPr>
              <p:cNvPr id="30" name="圆角矩形 29"/>
              <p:cNvSpPr/>
              <p:nvPr/>
            </p:nvSpPr>
            <p:spPr>
              <a:xfrm>
                <a:off x="3061220" y="3398755"/>
                <a:ext cx="710270" cy="23774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16" tIns="45708" rIns="91416" bIns="4570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1" name="矩形 30"/>
              <p:cNvSpPr/>
              <p:nvPr/>
            </p:nvSpPr>
            <p:spPr>
              <a:xfrm>
                <a:off x="3144243" y="3387331"/>
                <a:ext cx="593562" cy="252002"/>
              </a:xfrm>
              <a:prstGeom prst="rect">
                <a:avLst/>
              </a:prstGeom>
            </p:spPr>
            <p:txBody>
              <a:bodyPr wrap="none" lIns="91416" tIns="45708" rIns="91416" bIns="45708">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汇报人</a:t>
                </a:r>
                <a:endParaRPr kumimoji="1" lang="en-US" altLang="zh-CN" sz="16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36" name="文本框 35"/>
            <p:cNvSpPr txBox="1"/>
            <p:nvPr/>
          </p:nvSpPr>
          <p:spPr>
            <a:xfrm>
              <a:off x="4548605" y="4809728"/>
              <a:ext cx="845820" cy="438785"/>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1735" dirty="0">
                  <a:solidFill>
                    <a:srgbClr val="314371"/>
                  </a:solidFill>
                  <a:latin typeface="微软雅黑" panose="020B0503020204020204" pitchFamily="34" charset="-122"/>
                  <a:ea typeface="微软雅黑" panose="020B0503020204020204" pitchFamily="34" charset="-122"/>
                </a:rPr>
                <a:t>严智</a:t>
              </a:r>
              <a:r>
                <a:rPr lang="zh-CN" altLang="en-US" sz="1735" dirty="0">
                  <a:solidFill>
                    <a:srgbClr val="314371"/>
                  </a:solidFill>
                  <a:latin typeface="微软雅黑" panose="020B0503020204020204" pitchFamily="34" charset="-122"/>
                  <a:ea typeface="微软雅黑" panose="020B0503020204020204" pitchFamily="34" charset="-122"/>
                </a:rPr>
                <a:t>强</a:t>
              </a:r>
              <a:endParaRPr lang="zh-CN" altLang="en-US" sz="1735" dirty="0">
                <a:solidFill>
                  <a:srgbClr val="314371"/>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1000" fill="hold"/>
                                        <p:tgtEl>
                                          <p:spTgt spid="16"/>
                                        </p:tgtEl>
                                        <p:attrNameLst>
                                          <p:attrName>ppt_x</p:attrName>
                                        </p:attrNameLst>
                                      </p:cBhvr>
                                      <p:tavLst>
                                        <p:tav tm="0">
                                          <p:val>
                                            <p:strVal val="1+#ppt_w/2"/>
                                          </p:val>
                                        </p:tav>
                                        <p:tav tm="100000">
                                          <p:val>
                                            <p:strVal val="#ppt_x"/>
                                          </p:val>
                                        </p:tav>
                                      </p:tavLst>
                                    </p:anim>
                                    <p:anim calcmode="lin" valueType="num">
                                      <p:cBhvr additive="base">
                                        <p:cTn id="8" dur="1000" fill="hold"/>
                                        <p:tgtEl>
                                          <p:spTgt spid="16"/>
                                        </p:tgtEl>
                                        <p:attrNameLst>
                                          <p:attrName>ppt_y</p:attrName>
                                        </p:attrNameLst>
                                      </p:cBhvr>
                                      <p:tavLst>
                                        <p:tav tm="0">
                                          <p:val>
                                            <p:strVal val="#ppt_y"/>
                                          </p:val>
                                        </p:tav>
                                        <p:tav tm="100000">
                                          <p:val>
                                            <p:strVal val="#ppt_y"/>
                                          </p:val>
                                        </p:tav>
                                      </p:tavLst>
                                    </p:anim>
                                  </p:childTnLst>
                                </p:cTn>
                              </p:par>
                              <p:par>
                                <p:cTn id="9" presetID="22" presetClass="entr" presetSubtype="2" fill="hold" grpId="0" nodeType="withEffect">
                                  <p:stCondLst>
                                    <p:cond delay="150"/>
                                  </p:stCondLst>
                                  <p:childTnLst>
                                    <p:set>
                                      <p:cBhvr>
                                        <p:cTn id="10" dur="1" fill="hold">
                                          <p:stCondLst>
                                            <p:cond delay="0"/>
                                          </p:stCondLst>
                                        </p:cTn>
                                        <p:tgtEl>
                                          <p:spTgt spid="12"/>
                                        </p:tgtEl>
                                        <p:attrNameLst>
                                          <p:attrName>style.visibility</p:attrName>
                                        </p:attrNameLst>
                                      </p:cBhvr>
                                      <p:to>
                                        <p:strVal val="visible"/>
                                      </p:to>
                                    </p:set>
                                    <p:animEffect transition="in" filter="wipe(right)">
                                      <p:cBhvr>
                                        <p:cTn id="11" dur="1000"/>
                                        <p:tgtEl>
                                          <p:spTgt spid="12"/>
                                        </p:tgtEl>
                                      </p:cBhvr>
                                    </p:animEffect>
                                  </p:childTnLst>
                                </p:cTn>
                              </p:par>
                            </p:childTnLst>
                          </p:cTn>
                        </p:par>
                        <p:par>
                          <p:cTn id="12" fill="hold">
                            <p:stCondLst>
                              <p:cond delay="1000"/>
                            </p:stCondLst>
                            <p:childTnLst>
                              <p:par>
                                <p:cTn id="13" presetID="53" presetClass="entr" presetSubtype="16" fill="hold" grpId="0" nodeType="afterEffect">
                                  <p:stCondLst>
                                    <p:cond delay="0"/>
                                  </p:stCondLst>
                                  <p:iterate type="lt">
                                    <p:tmPct val="10000"/>
                                  </p:iterate>
                                  <p:childTnLst>
                                    <p:set>
                                      <p:cBhvr>
                                        <p:cTn id="14" dur="1" fill="hold">
                                          <p:stCondLst>
                                            <p:cond delay="0"/>
                                          </p:stCondLst>
                                        </p:cTn>
                                        <p:tgtEl>
                                          <p:spTgt spid="15"/>
                                        </p:tgtEl>
                                        <p:attrNameLst>
                                          <p:attrName>style.visibility</p:attrName>
                                        </p:attrNameLst>
                                      </p:cBhvr>
                                      <p:to>
                                        <p:strVal val="visible"/>
                                      </p:to>
                                    </p:set>
                                    <p:anim calcmode="lin" valueType="num">
                                      <p:cBhvr>
                                        <p:cTn id="15" dur="500" fill="hold"/>
                                        <p:tgtEl>
                                          <p:spTgt spid="15"/>
                                        </p:tgtEl>
                                        <p:attrNameLst>
                                          <p:attrName>ppt_w</p:attrName>
                                        </p:attrNameLst>
                                      </p:cBhvr>
                                      <p:tavLst>
                                        <p:tav tm="0">
                                          <p:val>
                                            <p:fltVal val="0"/>
                                          </p:val>
                                        </p:tav>
                                        <p:tav tm="100000">
                                          <p:val>
                                            <p:strVal val="#ppt_w"/>
                                          </p:val>
                                        </p:tav>
                                      </p:tavLst>
                                    </p:anim>
                                    <p:anim calcmode="lin" valueType="num">
                                      <p:cBhvr>
                                        <p:cTn id="16" dur="500" fill="hold"/>
                                        <p:tgtEl>
                                          <p:spTgt spid="15"/>
                                        </p:tgtEl>
                                        <p:attrNameLst>
                                          <p:attrName>ppt_h</p:attrName>
                                        </p:attrNameLst>
                                      </p:cBhvr>
                                      <p:tavLst>
                                        <p:tav tm="0">
                                          <p:val>
                                            <p:fltVal val="0"/>
                                          </p:val>
                                        </p:tav>
                                        <p:tav tm="100000">
                                          <p:val>
                                            <p:strVal val="#ppt_h"/>
                                          </p:val>
                                        </p:tav>
                                      </p:tavLst>
                                    </p:anim>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离页连接符 2"/>
          <p:cNvSpPr/>
          <p:nvPr>
            <p:custDataLst>
              <p:tags r:id="rId1"/>
            </p:custDataLst>
          </p:nvPr>
        </p:nvSpPr>
        <p:spPr>
          <a:xfrm>
            <a:off x="5544185" y="1586230"/>
            <a:ext cx="769620" cy="720090"/>
          </a:xfrm>
          <a:prstGeom prst="flowChartOffpage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1</a:t>
            </a:r>
            <a:endParaRPr kumimoji="0" lang="zh-CN" altLang="en-US" sz="36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0" name="流程图: 离页连接符 19"/>
          <p:cNvSpPr/>
          <p:nvPr>
            <p:custDataLst>
              <p:tags r:id="rId2"/>
            </p:custDataLst>
          </p:nvPr>
        </p:nvSpPr>
        <p:spPr>
          <a:xfrm>
            <a:off x="5544232" y="2601922"/>
            <a:ext cx="769482" cy="720156"/>
          </a:xfrm>
          <a:prstGeom prst="flowChartOffpage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2</a:t>
            </a:r>
            <a:endParaRPr kumimoji="0" lang="zh-CN" altLang="en-US" sz="36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1" name="流程图: 离页连接符 20"/>
          <p:cNvSpPr/>
          <p:nvPr>
            <p:custDataLst>
              <p:tags r:id="rId3"/>
            </p:custDataLst>
          </p:nvPr>
        </p:nvSpPr>
        <p:spPr>
          <a:xfrm>
            <a:off x="5544232" y="3617922"/>
            <a:ext cx="769482" cy="720156"/>
          </a:xfrm>
          <a:prstGeom prst="flowChartOffpage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3</a:t>
            </a:r>
            <a:endParaRPr kumimoji="0" lang="zh-CN" altLang="en-US" sz="36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22" name="流程图: 离页连接符 21"/>
          <p:cNvSpPr/>
          <p:nvPr>
            <p:custDataLst>
              <p:tags r:id="rId4"/>
            </p:custDataLst>
          </p:nvPr>
        </p:nvSpPr>
        <p:spPr>
          <a:xfrm>
            <a:off x="5544232" y="4633922"/>
            <a:ext cx="769482" cy="720156"/>
          </a:xfrm>
          <a:prstGeom prst="flowChartOffpage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4</a:t>
            </a:r>
            <a:endParaRPr kumimoji="0" lang="zh-CN" altLang="en-US" sz="36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24" name="直接连接符 23"/>
          <p:cNvCxnSpPr/>
          <p:nvPr>
            <p:custDataLst>
              <p:tags r:id="rId5"/>
            </p:custDataLst>
          </p:nvPr>
        </p:nvCxnSpPr>
        <p:spPr>
          <a:xfrm>
            <a:off x="6453414" y="2166376"/>
            <a:ext cx="42291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custDataLst>
              <p:tags r:id="rId6"/>
            </p:custDataLst>
          </p:nvPr>
        </p:nvCxnSpPr>
        <p:spPr>
          <a:xfrm>
            <a:off x="6453414" y="3182376"/>
            <a:ext cx="42291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custDataLst>
              <p:tags r:id="rId7"/>
            </p:custDataLst>
          </p:nvPr>
        </p:nvCxnSpPr>
        <p:spPr>
          <a:xfrm>
            <a:off x="6453414" y="5214375"/>
            <a:ext cx="42291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custDataLst>
              <p:tags r:id="rId8"/>
            </p:custDataLst>
          </p:nvPr>
        </p:nvCxnSpPr>
        <p:spPr>
          <a:xfrm>
            <a:off x="6453414" y="4223775"/>
            <a:ext cx="42291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custDataLst>
              <p:tags r:id="rId9"/>
            </p:custDataLst>
          </p:nvPr>
        </p:nvSpPr>
        <p:spPr>
          <a:xfrm>
            <a:off x="6654866" y="1560233"/>
            <a:ext cx="2316480" cy="5219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论文阅读分</a:t>
            </a:r>
            <a:r>
              <a:rPr kumimoji="0" lang="zh-CN" altLang="en-US" sz="28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享</a:t>
            </a:r>
            <a:endParaRPr kumimoji="0" lang="zh-CN" altLang="en-US" sz="28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44" name="文本框 43"/>
          <p:cNvSpPr txBox="1"/>
          <p:nvPr>
            <p:custDataLst>
              <p:tags r:id="rId10"/>
            </p:custDataLst>
          </p:nvPr>
        </p:nvSpPr>
        <p:spPr>
          <a:xfrm>
            <a:off x="6654866" y="2589217"/>
            <a:ext cx="3027680" cy="5219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机器学习学习</a:t>
            </a:r>
            <a:r>
              <a:rPr kumimoji="0" lang="zh-CN" altLang="en-US" sz="28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汇报</a:t>
            </a:r>
            <a:endParaRPr kumimoji="0" lang="zh-CN" altLang="en-US" sz="28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45" name="文本框 44"/>
          <p:cNvSpPr txBox="1"/>
          <p:nvPr>
            <p:custDataLst>
              <p:tags r:id="rId11"/>
            </p:custDataLst>
          </p:nvPr>
        </p:nvSpPr>
        <p:spPr>
          <a:xfrm>
            <a:off x="6654866" y="3605219"/>
            <a:ext cx="2672080" cy="5219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下一周</a:t>
            </a:r>
            <a:r>
              <a:rPr kumimoji="0" lang="zh-CN" altLang="en-US" sz="28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学习计划</a:t>
            </a:r>
            <a:endParaRPr kumimoji="0" lang="zh-CN" altLang="en-US" sz="28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46" name="文本框 45"/>
          <p:cNvSpPr txBox="1"/>
          <p:nvPr>
            <p:custDataLst>
              <p:tags r:id="rId12"/>
            </p:custDataLst>
          </p:nvPr>
        </p:nvSpPr>
        <p:spPr>
          <a:xfrm>
            <a:off x="6654866" y="4621217"/>
            <a:ext cx="2316480" cy="5219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本周</a:t>
            </a:r>
            <a:r>
              <a:rPr kumimoji="0" lang="zh-CN" altLang="en-US" sz="28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学习总结</a:t>
            </a:r>
            <a:endParaRPr kumimoji="0" lang="zh-CN" altLang="en-US" sz="28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48" name="TextBox 145"/>
          <p:cNvSpPr txBox="1"/>
          <p:nvPr/>
        </p:nvSpPr>
        <p:spPr>
          <a:xfrm>
            <a:off x="1008721" y="4406326"/>
            <a:ext cx="339123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rPr>
              <a:t>目录 </a:t>
            </a:r>
            <a:r>
              <a:rPr kumimoji="0" lang="en-US" altLang="zh-CN" sz="32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rPr>
              <a:t>Contents</a:t>
            </a:r>
            <a:endParaRPr kumimoji="0" lang="zh-CN" altLang="en-US" sz="32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endParaRPr>
          </a:p>
        </p:txBody>
      </p:sp>
      <p:grpSp>
        <p:nvGrpSpPr>
          <p:cNvPr id="50" name="组合 49"/>
          <p:cNvGrpSpPr/>
          <p:nvPr/>
        </p:nvGrpSpPr>
        <p:grpSpPr>
          <a:xfrm>
            <a:off x="1722835" y="2083453"/>
            <a:ext cx="1963003" cy="1963513"/>
            <a:chOff x="1416698" y="1809000"/>
            <a:chExt cx="3239157" cy="3240000"/>
          </a:xfrm>
        </p:grpSpPr>
        <p:sp>
          <p:nvSpPr>
            <p:cNvPr id="51" name="椭圆 50"/>
            <p:cNvSpPr/>
            <p:nvPr/>
          </p:nvSpPr>
          <p:spPr>
            <a:xfrm>
              <a:off x="1416698" y="1809000"/>
              <a:ext cx="3239157" cy="3240000"/>
            </a:xfrm>
            <a:prstGeom prst="ellipse">
              <a:avLst/>
            </a:prstGeom>
            <a:solidFill>
              <a:schemeClr val="bg1">
                <a:lumMod val="95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85"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2" name="椭圆 51"/>
            <p:cNvSpPr/>
            <p:nvPr/>
          </p:nvSpPr>
          <p:spPr>
            <a:xfrm>
              <a:off x="1594308" y="1989000"/>
              <a:ext cx="2880750" cy="2880000"/>
            </a:xfrm>
            <a:prstGeom prst="ellipse">
              <a:avLst/>
            </a:prstGeom>
            <a:solidFill>
              <a:schemeClr val="bg1"/>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85"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53" name="组合 52"/>
            <p:cNvGrpSpPr/>
            <p:nvPr/>
          </p:nvGrpSpPr>
          <p:grpSpPr>
            <a:xfrm>
              <a:off x="1594308" y="1982843"/>
              <a:ext cx="2880750" cy="2887089"/>
              <a:chOff x="3437020" y="1033173"/>
              <a:chExt cx="863676" cy="865577"/>
            </a:xfrm>
          </p:grpSpPr>
          <p:sp>
            <p:nvSpPr>
              <p:cNvPr id="54" name="椭圆 18"/>
              <p:cNvSpPr>
                <a:spLocks noChangeArrowheads="1"/>
              </p:cNvSpPr>
              <p:nvPr/>
            </p:nvSpPr>
            <p:spPr bwMode="auto">
              <a:xfrm>
                <a:off x="3437020" y="1033173"/>
                <a:ext cx="863676" cy="865577"/>
              </a:xfrm>
              <a:prstGeom prst="ellipse">
                <a:avLst/>
              </a:prstGeom>
              <a:solidFill>
                <a:schemeClr val="accent1"/>
              </a:solidFill>
              <a:ln w="38100">
                <a:noFill/>
                <a:miter lim="800000"/>
              </a:ln>
            </p:spPr>
            <p:txBody>
              <a:bodyPr anchor="ct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marL="0" marR="0" lvl="0" indent="0" algn="ctr" defTabSz="914400" rtl="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55" name="图片 54"/>
              <p:cNvPicPr>
                <a:picLocks noChangeAspect="1"/>
              </p:cNvPicPr>
              <p:nvPr/>
            </p:nvPicPr>
            <p:blipFill>
              <a:blip r:embed="rId13" cstate="screen">
                <a:biLevel thresh="25000"/>
              </a:blip>
              <a:stretch>
                <a:fillRect/>
              </a:stretch>
            </p:blipFill>
            <p:spPr>
              <a:xfrm>
                <a:off x="3587275" y="1169757"/>
                <a:ext cx="552644" cy="566109"/>
              </a:xfrm>
              <a:prstGeom prst="rect">
                <a:avLst/>
              </a:prstGeom>
              <a:ln>
                <a:noFill/>
              </a:ln>
            </p:spPr>
          </p:pic>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p:cTn id="7" dur="500" fill="hold"/>
                                        <p:tgtEl>
                                          <p:spTgt spid="50"/>
                                        </p:tgtEl>
                                        <p:attrNameLst>
                                          <p:attrName>ppt_w</p:attrName>
                                        </p:attrNameLst>
                                      </p:cBhvr>
                                      <p:tavLst>
                                        <p:tav tm="0">
                                          <p:val>
                                            <p:fltVal val="0"/>
                                          </p:val>
                                        </p:tav>
                                        <p:tav tm="100000">
                                          <p:val>
                                            <p:strVal val="#ppt_w"/>
                                          </p:val>
                                        </p:tav>
                                      </p:tavLst>
                                    </p:anim>
                                    <p:anim calcmode="lin" valueType="num">
                                      <p:cBhvr>
                                        <p:cTn id="8" dur="500" fill="hold"/>
                                        <p:tgtEl>
                                          <p:spTgt spid="50"/>
                                        </p:tgtEl>
                                        <p:attrNameLst>
                                          <p:attrName>ppt_h</p:attrName>
                                        </p:attrNameLst>
                                      </p:cBhvr>
                                      <p:tavLst>
                                        <p:tav tm="0">
                                          <p:val>
                                            <p:fltVal val="0"/>
                                          </p:val>
                                        </p:tav>
                                        <p:tav tm="100000">
                                          <p:val>
                                            <p:strVal val="#ppt_h"/>
                                          </p:val>
                                        </p:tav>
                                      </p:tavLst>
                                    </p:anim>
                                    <p:animEffect transition="in" filter="fade">
                                      <p:cBhvr>
                                        <p:cTn id="9" dur="500"/>
                                        <p:tgtEl>
                                          <p:spTgt spid="50"/>
                                        </p:tgtEl>
                                      </p:cBhvr>
                                    </p:animEffect>
                                  </p:childTnLst>
                                </p:cTn>
                              </p:par>
                            </p:childTnLst>
                          </p:cTn>
                        </p:par>
                        <p:par>
                          <p:cTn id="10" fill="hold">
                            <p:stCondLst>
                              <p:cond delay="500"/>
                            </p:stCondLst>
                            <p:childTnLst>
                              <p:par>
                                <p:cTn id="11" presetID="2" presetClass="entr" presetSubtype="4" fill="hold" grpId="0" nodeType="afterEffect">
                                  <p:stCondLst>
                                    <p:cond delay="0"/>
                                  </p:stCondLst>
                                  <p:childTnLst>
                                    <p:set>
                                      <p:cBhvr>
                                        <p:cTn id="12" dur="1" fill="hold">
                                          <p:stCondLst>
                                            <p:cond delay="0"/>
                                          </p:stCondLst>
                                        </p:cTn>
                                        <p:tgtEl>
                                          <p:spTgt spid="48"/>
                                        </p:tgtEl>
                                        <p:attrNameLst>
                                          <p:attrName>style.visibility</p:attrName>
                                        </p:attrNameLst>
                                      </p:cBhvr>
                                      <p:to>
                                        <p:strVal val="visible"/>
                                      </p:to>
                                    </p:set>
                                    <p:anim calcmode="lin" valueType="num">
                                      <p:cBhvr additive="base">
                                        <p:cTn id="13" dur="500" fill="hold"/>
                                        <p:tgtEl>
                                          <p:spTgt spid="48"/>
                                        </p:tgtEl>
                                        <p:attrNameLst>
                                          <p:attrName>ppt_x</p:attrName>
                                        </p:attrNameLst>
                                      </p:cBhvr>
                                      <p:tavLst>
                                        <p:tav tm="0">
                                          <p:val>
                                            <p:strVal val="#ppt_x"/>
                                          </p:val>
                                        </p:tav>
                                        <p:tav tm="100000">
                                          <p:val>
                                            <p:strVal val="#ppt_x"/>
                                          </p:val>
                                        </p:tav>
                                      </p:tavLst>
                                    </p:anim>
                                    <p:anim calcmode="lin" valueType="num">
                                      <p:cBhvr additive="base">
                                        <p:cTn id="14" dur="500" fill="hold"/>
                                        <p:tgtEl>
                                          <p:spTgt spid="48"/>
                                        </p:tgtEl>
                                        <p:attrNameLst>
                                          <p:attrName>ppt_y</p:attrName>
                                        </p:attrNameLst>
                                      </p:cBhvr>
                                      <p:tavLst>
                                        <p:tav tm="0">
                                          <p:val>
                                            <p:strVal val="1+#ppt_h/2"/>
                                          </p:val>
                                        </p:tav>
                                        <p:tav tm="100000">
                                          <p:val>
                                            <p:strVal val="#ppt_y"/>
                                          </p:val>
                                        </p:tav>
                                      </p:tavLst>
                                    </p:anim>
                                  </p:childTnLst>
                                </p:cTn>
                              </p:par>
                            </p:childTnLst>
                          </p:cTn>
                        </p:par>
                        <p:par>
                          <p:cTn id="15" fill="hold">
                            <p:stCondLst>
                              <p:cond delay="1000"/>
                            </p:stCondLst>
                            <p:childTnLst>
                              <p:par>
                                <p:cTn id="16" presetID="2" presetClass="entr" presetSubtype="4"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 calcmode="lin" valueType="num">
                                      <p:cBhvr additive="base">
                                        <p:cTn id="26" dur="500" fill="hold"/>
                                        <p:tgtEl>
                                          <p:spTgt spid="21"/>
                                        </p:tgtEl>
                                        <p:attrNameLst>
                                          <p:attrName>ppt_x</p:attrName>
                                        </p:attrNameLst>
                                      </p:cBhvr>
                                      <p:tavLst>
                                        <p:tav tm="0">
                                          <p:val>
                                            <p:strVal val="#ppt_x"/>
                                          </p:val>
                                        </p:tav>
                                        <p:tav tm="100000">
                                          <p:val>
                                            <p:strVal val="#ppt_x"/>
                                          </p:val>
                                        </p:tav>
                                      </p:tavLst>
                                    </p:anim>
                                    <p:anim calcmode="lin" valueType="num">
                                      <p:cBhvr additive="base">
                                        <p:cTn id="27" dur="500" fill="hold"/>
                                        <p:tgtEl>
                                          <p:spTgt spid="21"/>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 calcmode="lin" valueType="num">
                                      <p:cBhvr additive="base">
                                        <p:cTn id="30" dur="500" fill="hold"/>
                                        <p:tgtEl>
                                          <p:spTgt spid="22"/>
                                        </p:tgtEl>
                                        <p:attrNameLst>
                                          <p:attrName>ppt_x</p:attrName>
                                        </p:attrNameLst>
                                      </p:cBhvr>
                                      <p:tavLst>
                                        <p:tav tm="0">
                                          <p:val>
                                            <p:strVal val="#ppt_x"/>
                                          </p:val>
                                        </p:tav>
                                        <p:tav tm="100000">
                                          <p:val>
                                            <p:strVal val="#ppt_x"/>
                                          </p:val>
                                        </p:tav>
                                      </p:tavLst>
                                    </p:anim>
                                    <p:anim calcmode="lin" valueType="num">
                                      <p:cBhvr additive="base">
                                        <p:cTn id="31" dur="500" fill="hold"/>
                                        <p:tgtEl>
                                          <p:spTgt spid="22"/>
                                        </p:tgtEl>
                                        <p:attrNameLst>
                                          <p:attrName>ppt_y</p:attrName>
                                        </p:attrNameLst>
                                      </p:cBhvr>
                                      <p:tavLst>
                                        <p:tav tm="0">
                                          <p:val>
                                            <p:strVal val="1+#ppt_h/2"/>
                                          </p:val>
                                        </p:tav>
                                        <p:tav tm="100000">
                                          <p:val>
                                            <p:strVal val="#ppt_y"/>
                                          </p:val>
                                        </p:tav>
                                      </p:tavLst>
                                    </p:anim>
                                  </p:childTnLst>
                                </p:cTn>
                              </p:par>
                            </p:childTnLst>
                          </p:cTn>
                        </p:par>
                        <p:par>
                          <p:cTn id="32" fill="hold">
                            <p:stCondLst>
                              <p:cond delay="1500"/>
                            </p:stCondLst>
                            <p:childTnLst>
                              <p:par>
                                <p:cTn id="33" presetID="22" presetClass="entr" presetSubtype="8" fill="hold"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left)">
                                      <p:cBhvr>
                                        <p:cTn id="35" dur="500"/>
                                        <p:tgtEl>
                                          <p:spTgt spid="24"/>
                                        </p:tgtEl>
                                      </p:cBhvr>
                                    </p:animEffect>
                                  </p:childTnLst>
                                </p:cTn>
                              </p:par>
                            </p:childTnLst>
                          </p:cTn>
                        </p:par>
                        <p:par>
                          <p:cTn id="36" fill="hold">
                            <p:stCondLst>
                              <p:cond delay="2000"/>
                            </p:stCondLst>
                            <p:childTnLst>
                              <p:par>
                                <p:cTn id="37" presetID="22" presetClass="entr" presetSubtype="4" fill="hold" grpId="0" nodeType="after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wipe(down)">
                                      <p:cBhvr>
                                        <p:cTn id="39" dur="500"/>
                                        <p:tgtEl>
                                          <p:spTgt spid="6"/>
                                        </p:tgtEl>
                                      </p:cBhvr>
                                    </p:animEffect>
                                  </p:childTnLst>
                                </p:cTn>
                              </p:par>
                            </p:childTnLst>
                          </p:cTn>
                        </p:par>
                        <p:par>
                          <p:cTn id="40" fill="hold">
                            <p:stCondLst>
                              <p:cond delay="2500"/>
                            </p:stCondLst>
                            <p:childTnLst>
                              <p:par>
                                <p:cTn id="41" presetID="22" presetClass="entr" presetSubtype="8" fill="hold" nodeType="after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left)">
                                      <p:cBhvr>
                                        <p:cTn id="43" dur="500"/>
                                        <p:tgtEl>
                                          <p:spTgt spid="26"/>
                                        </p:tgtEl>
                                      </p:cBhvr>
                                    </p:animEffect>
                                  </p:childTnLst>
                                </p:cTn>
                              </p:par>
                            </p:childTnLst>
                          </p:cTn>
                        </p:par>
                        <p:par>
                          <p:cTn id="44" fill="hold">
                            <p:stCondLst>
                              <p:cond delay="3000"/>
                            </p:stCondLst>
                            <p:childTnLst>
                              <p:par>
                                <p:cTn id="45" presetID="22" presetClass="entr" presetSubtype="4" fill="hold" grpId="0" nodeType="afterEffect">
                                  <p:stCondLst>
                                    <p:cond delay="0"/>
                                  </p:stCondLst>
                                  <p:childTnLst>
                                    <p:set>
                                      <p:cBhvr>
                                        <p:cTn id="46" dur="1" fill="hold">
                                          <p:stCondLst>
                                            <p:cond delay="0"/>
                                          </p:stCondLst>
                                        </p:cTn>
                                        <p:tgtEl>
                                          <p:spTgt spid="44"/>
                                        </p:tgtEl>
                                        <p:attrNameLst>
                                          <p:attrName>style.visibility</p:attrName>
                                        </p:attrNameLst>
                                      </p:cBhvr>
                                      <p:to>
                                        <p:strVal val="visible"/>
                                      </p:to>
                                    </p:set>
                                    <p:animEffect transition="in" filter="wipe(down)">
                                      <p:cBhvr>
                                        <p:cTn id="47" dur="500"/>
                                        <p:tgtEl>
                                          <p:spTgt spid="44"/>
                                        </p:tgtEl>
                                      </p:cBhvr>
                                    </p:animEffect>
                                  </p:childTnLst>
                                </p:cTn>
                              </p:par>
                            </p:childTnLst>
                          </p:cTn>
                        </p:par>
                        <p:par>
                          <p:cTn id="48" fill="hold">
                            <p:stCondLst>
                              <p:cond delay="3500"/>
                            </p:stCondLst>
                            <p:childTnLst>
                              <p:par>
                                <p:cTn id="49" presetID="22" presetClass="entr" presetSubtype="8" fill="hold" nodeType="after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wipe(left)">
                                      <p:cBhvr>
                                        <p:cTn id="51" dur="500"/>
                                        <p:tgtEl>
                                          <p:spTgt spid="38"/>
                                        </p:tgtEl>
                                      </p:cBhvr>
                                    </p:animEffect>
                                  </p:childTnLst>
                                </p:cTn>
                              </p:par>
                            </p:childTnLst>
                          </p:cTn>
                        </p:par>
                        <p:par>
                          <p:cTn id="52" fill="hold">
                            <p:stCondLst>
                              <p:cond delay="4000"/>
                            </p:stCondLst>
                            <p:childTnLst>
                              <p:par>
                                <p:cTn id="53" presetID="22" presetClass="entr" presetSubtype="4" fill="hold" grpId="0" nodeType="after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wipe(down)">
                                      <p:cBhvr>
                                        <p:cTn id="55" dur="500"/>
                                        <p:tgtEl>
                                          <p:spTgt spid="45"/>
                                        </p:tgtEl>
                                      </p:cBhvr>
                                    </p:animEffect>
                                  </p:childTnLst>
                                </p:cTn>
                              </p:par>
                            </p:childTnLst>
                          </p:cTn>
                        </p:par>
                        <p:par>
                          <p:cTn id="56" fill="hold">
                            <p:stCondLst>
                              <p:cond delay="4500"/>
                            </p:stCondLst>
                            <p:childTnLst>
                              <p:par>
                                <p:cTn id="57" presetID="22" presetClass="entr" presetSubtype="8" fill="hold" nodeType="after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wipe(left)">
                                      <p:cBhvr>
                                        <p:cTn id="59" dur="500"/>
                                        <p:tgtEl>
                                          <p:spTgt spid="27"/>
                                        </p:tgtEl>
                                      </p:cBhvr>
                                    </p:animEffect>
                                  </p:childTnLst>
                                </p:cTn>
                              </p:par>
                            </p:childTnLst>
                          </p:cTn>
                        </p:par>
                        <p:par>
                          <p:cTn id="60" fill="hold">
                            <p:stCondLst>
                              <p:cond delay="5000"/>
                            </p:stCondLst>
                            <p:childTnLst>
                              <p:par>
                                <p:cTn id="61" presetID="22" presetClass="entr" presetSubtype="4" fill="hold" grpId="0" nodeType="afterEffect">
                                  <p:stCondLst>
                                    <p:cond delay="0"/>
                                  </p:stCondLst>
                                  <p:childTnLst>
                                    <p:set>
                                      <p:cBhvr>
                                        <p:cTn id="62" dur="1" fill="hold">
                                          <p:stCondLst>
                                            <p:cond delay="0"/>
                                          </p:stCondLst>
                                        </p:cTn>
                                        <p:tgtEl>
                                          <p:spTgt spid="46"/>
                                        </p:tgtEl>
                                        <p:attrNameLst>
                                          <p:attrName>style.visibility</p:attrName>
                                        </p:attrNameLst>
                                      </p:cBhvr>
                                      <p:to>
                                        <p:strVal val="visible"/>
                                      </p:to>
                                    </p:set>
                                    <p:animEffect transition="in" filter="wipe(down)">
                                      <p:cBhvr>
                                        <p:cTn id="63"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20" grpId="0" animBg="1"/>
      <p:bldP spid="21" grpId="0" animBg="1"/>
      <p:bldP spid="22" grpId="0" animBg="1"/>
      <p:bldP spid="6" grpId="0"/>
      <p:bldP spid="44" grpId="0"/>
      <p:bldP spid="45" grpId="0"/>
      <p:bldP spid="46" grpId="0"/>
      <p:bldP spid="4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0" name="流程图: 离页连接符 29"/>
          <p:cNvSpPr/>
          <p:nvPr/>
        </p:nvSpPr>
        <p:spPr>
          <a:xfrm>
            <a:off x="680761" y="276203"/>
            <a:ext cx="1692234" cy="1773054"/>
          </a:xfrm>
          <a:prstGeom prst="flowChartOffpage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96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1</a:t>
            </a:r>
            <a:endParaRPr kumimoji="0" lang="zh-CN" altLang="en-US" sz="96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31" name="直接连接符 30"/>
          <p:cNvCxnSpPr/>
          <p:nvPr/>
        </p:nvCxnSpPr>
        <p:spPr>
          <a:xfrm>
            <a:off x="3294380" y="1216947"/>
            <a:ext cx="57531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4472126" y="276327"/>
            <a:ext cx="3840480" cy="8299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rPr>
              <a:t>论文阅读</a:t>
            </a:r>
            <a:r>
              <a:rPr kumimoji="0" lang="zh-CN" altLang="en-US" sz="4800" b="1"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rPr>
              <a:t>分享</a:t>
            </a:r>
            <a:endParaRPr kumimoji="0" lang="zh-CN" altLang="en-US" sz="4800" b="1"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endParaRPr>
          </a:p>
        </p:txBody>
      </p:sp>
      <p:pic>
        <p:nvPicPr>
          <p:cNvPr id="3" name="图片 2"/>
          <p:cNvPicPr/>
          <p:nvPr/>
        </p:nvPicPr>
        <p:blipFill>
          <a:blip r:embed="rId1"/>
          <a:stretch>
            <a:fillRect/>
          </a:stretch>
        </p:blipFill>
        <p:spPr>
          <a:xfrm>
            <a:off x="771525" y="2458403"/>
            <a:ext cx="10287000" cy="399097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wipe(left)">
                                      <p:cBhvr>
                                        <p:cTn id="13" dur="500"/>
                                        <p:tgtEl>
                                          <p:spTgt spid="31"/>
                                        </p:tgtEl>
                                      </p:cBhvr>
                                    </p:animEffect>
                                  </p:childTnLst>
                                </p:cTn>
                              </p:par>
                            </p:childTnLst>
                          </p:cTn>
                        </p:par>
                        <p:par>
                          <p:cTn id="14" fill="hold">
                            <p:stCondLst>
                              <p:cond delay="1500"/>
                            </p:stCondLst>
                            <p:childTnLst>
                              <p:par>
                                <p:cTn id="15" presetID="22" presetClass="entr" presetSubtype="4" fill="hold" grpId="0" nodeType="after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down)">
                                      <p:cBhvr>
                                        <p:cTn id="1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ldLvl="0" animBg="1"/>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25"/>
          <p:cNvSpPr txBox="1"/>
          <p:nvPr/>
        </p:nvSpPr>
        <p:spPr>
          <a:xfrm>
            <a:off x="123190" y="1207770"/>
            <a:ext cx="11597005" cy="3995420"/>
          </a:xfrm>
          <a:prstGeom prst="rect">
            <a:avLst/>
          </a:prstGeom>
          <a:noFill/>
          <a:ln>
            <a:noFill/>
          </a:ln>
        </p:spPr>
        <p:txBody>
          <a:bodyPr lIns="91413" tIns="45700" rIns="91413" bIns="45700" anchor="t" anchorCtr="0">
            <a:noAutofit/>
          </a:bodyPr>
          <a:lstStyle/>
          <a:p>
            <a:pPr lvl="0">
              <a:lnSpc>
                <a:spcPct val="120000"/>
              </a:lnSpc>
              <a:defRPr/>
            </a:pP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我们知道，机器学习（</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ML</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）多个子领域（如</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 NLP </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和</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 CV</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的最新重大进展通过一种共享的通用方法实现，该方法充分利用大规模、多样化数据集以及有效吸收所有数据的表达模型。尽管已经有各种尝试将这种方法应用于机器人技术，但机器人还没能利用到高性能模型。</a:t>
            </a:r>
            <a:endPar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构成挑战的因素有几个。首先缺乏大规模和多样化机器人数据，这限制了模型吸收广泛机器人经验的能力。数据收集对于机器人技术来说成本高昂且具有挑战性，这是因为数据集管理需要工程量大的自主操作或者使用人类远程操作收集的演示。其次缺乏可以从此类数据集中学习并有效泛化的高表达性、可扩展且速度足够快的实时推理模型。</a:t>
            </a:r>
            <a:endPar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为了解决这些挑战，谷歌机器人团队等提出了</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 Robotics Transformer 1 (RT-1)</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。这是一种多任务模型，可以</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 tokenize </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机器人的输入和输出动作，从而在运行时实现高效推理，使实时控制成为可能。</a:t>
            </a:r>
            <a:endPar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22" name="文本框 21"/>
          <p:cNvSpPr txBox="1"/>
          <p:nvPr/>
        </p:nvSpPr>
        <p:spPr>
          <a:xfrm>
            <a:off x="1264217" y="351896"/>
            <a:ext cx="2283460" cy="5219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introduction</a:t>
            </a:r>
            <a:endParaRPr kumimoji="0" lang="en-US" altLang="zh-CN"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p:stCondLst>
                              <p:cond delay="500"/>
                            </p:stCondLst>
                            <p:childTnLst>
                              <p:par>
                                <p:cTn id="9" presetID="53" presetClass="entr" presetSubtype="16" fill="hold" grpId="0" nodeType="afterEffect">
                                  <p:stCondLst>
                                    <p:cond delay="0"/>
                                  </p:stCondLst>
                                  <p:iterate type="lt">
                                    <p:tmPct val="5000"/>
                                  </p:iterate>
                                  <p:childTnLst>
                                    <p:set>
                                      <p:cBhvr>
                                        <p:cTn id="10" dur="1" fill="hold">
                                          <p:stCondLst>
                                            <p:cond delay="0"/>
                                          </p:stCondLst>
                                        </p:cTn>
                                        <p:tgtEl>
                                          <p:spTgt spid="38"/>
                                        </p:tgtEl>
                                        <p:attrNameLst>
                                          <p:attrName>style.visibility</p:attrName>
                                        </p:attrNameLst>
                                      </p:cBhvr>
                                      <p:to>
                                        <p:strVal val="visible"/>
                                      </p:to>
                                    </p:set>
                                    <p:anim calcmode="lin" valueType="num">
                                      <p:cBhvr>
                                        <p:cTn id="11" dur="500" fill="hold"/>
                                        <p:tgtEl>
                                          <p:spTgt spid="38"/>
                                        </p:tgtEl>
                                        <p:attrNameLst>
                                          <p:attrName>ppt_w</p:attrName>
                                        </p:attrNameLst>
                                      </p:cBhvr>
                                      <p:tavLst>
                                        <p:tav tm="0">
                                          <p:val>
                                            <p:fltVal val="0"/>
                                          </p:val>
                                        </p:tav>
                                        <p:tav tm="100000">
                                          <p:val>
                                            <p:strVal val="#ppt_w"/>
                                          </p:val>
                                        </p:tav>
                                      </p:tavLst>
                                    </p:anim>
                                    <p:anim calcmode="lin" valueType="num">
                                      <p:cBhvr>
                                        <p:cTn id="12" dur="500" fill="hold"/>
                                        <p:tgtEl>
                                          <p:spTgt spid="38"/>
                                        </p:tgtEl>
                                        <p:attrNameLst>
                                          <p:attrName>ppt_h</p:attrName>
                                        </p:attrNameLst>
                                      </p:cBhvr>
                                      <p:tavLst>
                                        <p:tav tm="0">
                                          <p:val>
                                            <p:fltVal val="0"/>
                                          </p:val>
                                        </p:tav>
                                        <p:tav tm="100000">
                                          <p:val>
                                            <p:strVal val="#ppt_h"/>
                                          </p:val>
                                        </p:tav>
                                      </p:tavLst>
                                    </p:anim>
                                    <p:animEffect transition="in" filter="fade">
                                      <p:cBhvr>
                                        <p:cTn id="1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25"/>
          <p:cNvSpPr txBox="1"/>
          <p:nvPr/>
        </p:nvSpPr>
        <p:spPr>
          <a:xfrm>
            <a:off x="265430" y="1233805"/>
            <a:ext cx="9461500" cy="4644390"/>
          </a:xfrm>
          <a:prstGeom prst="rect">
            <a:avLst/>
          </a:prstGeom>
          <a:noFill/>
          <a:ln>
            <a:noFill/>
          </a:ln>
        </p:spPr>
        <p:txBody>
          <a:bodyPr lIns="91413" tIns="45700" rIns="91413" bIns="45700" anchor="t" anchorCtr="0">
            <a:noAutofit/>
          </a:bodyPr>
          <a:lstStyle/>
          <a:p>
            <a:pPr lvl="0">
              <a:lnSpc>
                <a:spcPct val="120000"/>
              </a:lnSpc>
              <a:defRPr/>
            </a:pPr>
            <a:r>
              <a:rPr lang="zh-CN" altLang="en-US" dirty="0">
                <a:sym typeface="+mn-ea"/>
              </a:rPr>
              <a:t>该团队对模型和训练集中的许多设计选择进行了仔细评估和消融实验，分析了</a:t>
            </a:r>
            <a:r>
              <a:rPr lang="en-US" altLang="zh-CN" dirty="0">
                <a:sym typeface="+mn-ea"/>
              </a:rPr>
              <a:t> tokenization</a:t>
            </a:r>
            <a:r>
              <a:rPr lang="zh-CN" altLang="en-US" dirty="0">
                <a:sym typeface="+mn-ea"/>
              </a:rPr>
              <a:t>、动作表示和数据集组合的影响。与现有技术相比，</a:t>
            </a:r>
            <a:r>
              <a:rPr lang="en-US" altLang="zh-CN" dirty="0">
                <a:sym typeface="+mn-ea"/>
              </a:rPr>
              <a:t>RT-1 </a:t>
            </a:r>
            <a:r>
              <a:rPr lang="zh-CN" altLang="en-US" dirty="0">
                <a:sym typeface="+mn-ea"/>
              </a:rPr>
              <a:t>可以显著改进对新任务、环境和对象的零样本泛化。</a:t>
            </a:r>
            <a:r>
              <a:rPr lang="en-US" altLang="zh-CN" dirty="0">
                <a:sym typeface="+mn-ea"/>
              </a:rPr>
              <a:t>RT-1 </a:t>
            </a:r>
            <a:r>
              <a:rPr lang="zh-CN" altLang="en-US" dirty="0">
                <a:sym typeface="+mn-ea"/>
              </a:rPr>
              <a:t>可以以</a:t>
            </a:r>
            <a:r>
              <a:rPr lang="en-US" altLang="zh-CN" dirty="0">
                <a:sym typeface="+mn-ea"/>
              </a:rPr>
              <a:t> 97% </a:t>
            </a:r>
            <a:r>
              <a:rPr lang="zh-CN" altLang="en-US" dirty="0">
                <a:sym typeface="+mn-ea"/>
              </a:rPr>
              <a:t>的成功率执行</a:t>
            </a:r>
            <a:r>
              <a:rPr lang="en-US" altLang="zh-CN" dirty="0">
                <a:sym typeface="+mn-ea"/>
              </a:rPr>
              <a:t> 700 </a:t>
            </a:r>
            <a:r>
              <a:rPr lang="zh-CN" altLang="en-US" dirty="0">
                <a:sym typeface="+mn-ea"/>
              </a:rPr>
              <a:t>多个训练指令，并且可以泛化到新的任务、干扰因素和背景。</a:t>
            </a:r>
            <a:r>
              <a:rPr lang="en-US" altLang="zh-CN" dirty="0">
                <a:sym typeface="+mn-ea"/>
              </a:rPr>
              <a:t>RT-1 </a:t>
            </a:r>
            <a:r>
              <a:rPr lang="zh-CN" altLang="en-US" dirty="0">
                <a:sym typeface="+mn-ea"/>
              </a:rPr>
              <a:t>吸收了大量数据，包括涉及多任务、对象和环境的机器人轨迹，实现了更好性能和泛化能力</a:t>
            </a:r>
            <a:endParaRPr lang="zh-CN" altLang="en-US" dirty="0">
              <a:sym typeface="+mn-ea"/>
            </a:endParaRPr>
          </a:p>
          <a:p>
            <a:pPr lvl="0">
              <a:lnSpc>
                <a:spcPct val="120000"/>
              </a:lnSpc>
              <a:defRPr/>
            </a:pPr>
            <a:endParaRPr lang="zh-CN" altLang="en-US" dirty="0">
              <a:sym typeface="+mn-ea"/>
            </a:endParaRPr>
          </a:p>
          <a:p>
            <a:pPr lvl="0">
              <a:lnSpc>
                <a:spcPct val="120000"/>
              </a:lnSpc>
              <a:defRPr/>
            </a:pP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982345" y="177800"/>
            <a:ext cx="4064000" cy="1322070"/>
          </a:xfrm>
          <a:prstGeom prst="rect">
            <a:avLst/>
          </a:prstGeom>
          <a:noFill/>
        </p:spPr>
        <p:txBody>
          <a:bodyPr wrap="square" rtlCol="0">
            <a:spAutoFit/>
          </a:bodyPr>
          <a:p>
            <a:r>
              <a:rPr lang="en-US" altLang="zh-CN" sz="4000" noProof="0" dirty="0">
                <a:ln>
                  <a:noFill/>
                </a:ln>
                <a:solidFill>
                  <a:srgbClr val="314371"/>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introduction</a:t>
            </a:r>
            <a:endParaRPr kumimoji="0" lang="en-US" altLang="zh-CN" sz="40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endParaRPr lang="zh-CN" altLang="en-US" sz="4000" dirty="0" smtClean="0">
              <a:latin typeface="+mj-ea"/>
              <a:ea typeface="+mj-ea"/>
            </a:endParaRPr>
          </a:p>
        </p:txBody>
      </p:sp>
      <p:pic>
        <p:nvPicPr>
          <p:cNvPr id="3" name="图片 2" descr="8aff92b9-b501-4741-8673-4b476b0ac9fa"/>
          <p:cNvPicPr>
            <a:picLocks noChangeAspect="1"/>
          </p:cNvPicPr>
          <p:nvPr/>
        </p:nvPicPr>
        <p:blipFill>
          <a:blip r:embed="rId1"/>
          <a:stretch>
            <a:fillRect/>
          </a:stretch>
        </p:blipFill>
        <p:spPr>
          <a:xfrm>
            <a:off x="4831715" y="2555240"/>
            <a:ext cx="7069455" cy="414782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iterate type="lt">
                                    <p:tmPct val="5000"/>
                                  </p:iterate>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Effect transition="in" filter="fade">
                                      <p:cBhvr>
                                        <p:cTn id="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25"/>
          <p:cNvSpPr txBox="1"/>
          <p:nvPr/>
        </p:nvSpPr>
        <p:spPr>
          <a:xfrm>
            <a:off x="265430" y="1000760"/>
            <a:ext cx="11751945" cy="3505200"/>
          </a:xfrm>
          <a:prstGeom prst="rect">
            <a:avLst/>
          </a:prstGeom>
          <a:noFill/>
          <a:ln>
            <a:noFill/>
          </a:ln>
        </p:spPr>
        <p:txBody>
          <a:bodyPr lIns="91413" tIns="45700" rIns="91413" bIns="45700" anchor="t" anchorCtr="0">
            <a:noAutofit/>
          </a:bodyPr>
          <a:lstStyle/>
          <a:p>
            <a:pPr lvl="0">
              <a:lnSpc>
                <a:spcPct val="120000"/>
              </a:lnSpc>
              <a:defRPr/>
            </a:pPr>
            <a:r>
              <a:rPr lang="en-US" altLang="zh-CN" dirty="0">
                <a:sym typeface="+mn-ea"/>
              </a:rPr>
              <a:t>RT-1 </a:t>
            </a:r>
            <a:r>
              <a:rPr lang="zh-CN" altLang="en-US" dirty="0">
                <a:sym typeface="+mn-ea"/>
              </a:rPr>
              <a:t>建立在一个</a:t>
            </a:r>
            <a:r>
              <a:rPr lang="en-US" altLang="zh-CN" dirty="0">
                <a:sym typeface="+mn-ea"/>
              </a:rPr>
              <a:t> transformer </a:t>
            </a:r>
            <a:r>
              <a:rPr lang="zh-CN" altLang="en-US" dirty="0">
                <a:sym typeface="+mn-ea"/>
              </a:rPr>
              <a:t>架构上，该架构从机器人相机中获取瞬时图像以及以自然语言表达的任务描述作为输入，并直接输出</a:t>
            </a:r>
            <a:r>
              <a:rPr lang="en-US" altLang="zh-CN" dirty="0">
                <a:sym typeface="+mn-ea"/>
              </a:rPr>
              <a:t> tokenized </a:t>
            </a:r>
            <a:r>
              <a:rPr lang="zh-CN" altLang="en-US" dirty="0">
                <a:sym typeface="+mn-ea"/>
              </a:rPr>
              <a:t>动作。</a:t>
            </a:r>
            <a:r>
              <a:rPr lang="en-US" altLang="zh-CN" dirty="0">
                <a:sym typeface="+mn-ea"/>
              </a:rPr>
              <a:t>RT-1 </a:t>
            </a:r>
            <a:r>
              <a:rPr lang="zh-CN" altLang="en-US" dirty="0">
                <a:sym typeface="+mn-ea"/>
              </a:rPr>
              <a:t>的架构类似于针对具有因果掩蔽的标准分类交叉熵目标训练的</a:t>
            </a:r>
            <a:r>
              <a:rPr lang="en-US" altLang="zh-CN" dirty="0">
                <a:sym typeface="+mn-ea"/>
              </a:rPr>
              <a:t> decoder-only </a:t>
            </a:r>
            <a:r>
              <a:rPr lang="zh-CN" altLang="en-US" dirty="0">
                <a:sym typeface="+mn-ea"/>
              </a:rPr>
              <a:t>序列模型。</a:t>
            </a:r>
            <a:r>
              <a:rPr lang="en-US" altLang="zh-CN" dirty="0">
                <a:sym typeface="+mn-ea"/>
              </a:rPr>
              <a:t>RT-1 </a:t>
            </a:r>
            <a:r>
              <a:rPr lang="zh-CN" altLang="en-US" dirty="0">
                <a:sym typeface="+mn-ea"/>
              </a:rPr>
              <a:t>的主要功能包括图像和动作</a:t>
            </a:r>
            <a:r>
              <a:rPr lang="en-US" altLang="zh-CN" dirty="0">
                <a:sym typeface="+mn-ea"/>
              </a:rPr>
              <a:t> tokenization </a:t>
            </a:r>
            <a:r>
              <a:rPr lang="zh-CN" altLang="en-US" dirty="0">
                <a:sym typeface="+mn-ea"/>
              </a:rPr>
              <a:t>以及</a:t>
            </a:r>
            <a:r>
              <a:rPr lang="en-US" altLang="zh-CN" dirty="0">
                <a:sym typeface="+mn-ea"/>
              </a:rPr>
              <a:t> token </a:t>
            </a:r>
            <a:r>
              <a:rPr lang="zh-CN" altLang="en-US" dirty="0">
                <a:sym typeface="+mn-ea"/>
              </a:rPr>
              <a:t>压缩。</a:t>
            </a:r>
            <a:endParaRPr lang="zh-CN" altLang="en-US" dirty="0">
              <a:sym typeface="+mn-ea"/>
            </a:endParaRPr>
          </a:p>
          <a:p>
            <a:pPr lvl="0">
              <a:lnSpc>
                <a:spcPct val="120000"/>
              </a:lnSpc>
              <a:defRPr/>
            </a:pPr>
            <a:endParaRPr lang="en-US" altLang="zh-CN" dirty="0">
              <a:sym typeface="+mn-ea"/>
            </a:endParaRPr>
          </a:p>
          <a:p>
            <a:pPr lvl="0">
              <a:lnSpc>
                <a:spcPct val="120000"/>
              </a:lnSpc>
              <a:defRPr/>
            </a:pPr>
            <a:r>
              <a:rPr lang="zh-CN" altLang="en-US" dirty="0">
                <a:sym typeface="+mn-ea"/>
              </a:rPr>
              <a:t>图像</a:t>
            </a:r>
            <a:r>
              <a:rPr lang="en-US" altLang="zh-CN" dirty="0">
                <a:sym typeface="+mn-ea"/>
              </a:rPr>
              <a:t> tokenization</a:t>
            </a:r>
            <a:r>
              <a:rPr lang="zh-CN" altLang="en-US" dirty="0">
                <a:sym typeface="+mn-ea"/>
              </a:rPr>
              <a:t>。该团队通过在</a:t>
            </a:r>
            <a:r>
              <a:rPr lang="en-US" altLang="zh-CN" dirty="0">
                <a:sym typeface="+mn-ea"/>
              </a:rPr>
              <a:t> ImageNet </a:t>
            </a:r>
            <a:r>
              <a:rPr lang="zh-CN" altLang="en-US" dirty="0">
                <a:sym typeface="+mn-ea"/>
              </a:rPr>
              <a:t>上预训练的</a:t>
            </a:r>
            <a:r>
              <a:rPr lang="en-US" altLang="zh-CN" dirty="0">
                <a:sym typeface="+mn-ea"/>
              </a:rPr>
              <a:t> EfficientNet-B3 </a:t>
            </a:r>
            <a:r>
              <a:rPr lang="zh-CN" altLang="en-US" dirty="0">
                <a:sym typeface="+mn-ea"/>
              </a:rPr>
              <a:t>模型传递图像，然后将生成的</a:t>
            </a:r>
            <a:r>
              <a:rPr lang="en-US" altLang="zh-CN" dirty="0">
                <a:sym typeface="+mn-ea"/>
              </a:rPr>
              <a:t> 9</a:t>
            </a:r>
            <a:r>
              <a:rPr lang="en-US" altLang="en-US" dirty="0">
                <a:sym typeface="+mn-ea"/>
              </a:rPr>
              <a:t>×</a:t>
            </a:r>
            <a:r>
              <a:rPr lang="en-US" altLang="zh-CN" dirty="0">
                <a:sym typeface="+mn-ea"/>
              </a:rPr>
              <a:t>9</a:t>
            </a:r>
            <a:r>
              <a:rPr lang="en-US" altLang="en-US" dirty="0">
                <a:sym typeface="+mn-ea"/>
              </a:rPr>
              <a:t>×</a:t>
            </a:r>
            <a:r>
              <a:rPr lang="en-US" altLang="zh-CN" dirty="0">
                <a:sym typeface="+mn-ea"/>
              </a:rPr>
              <a:t>512 </a:t>
            </a:r>
            <a:r>
              <a:rPr lang="zh-CN" altLang="en-US" dirty="0">
                <a:sym typeface="+mn-ea"/>
              </a:rPr>
              <a:t>空间特征图展平为</a:t>
            </a:r>
            <a:r>
              <a:rPr lang="en-US" altLang="zh-CN" dirty="0">
                <a:sym typeface="+mn-ea"/>
              </a:rPr>
              <a:t> 81 </a:t>
            </a:r>
            <a:r>
              <a:rPr lang="zh-CN" altLang="en-US" dirty="0">
                <a:sym typeface="+mn-ea"/>
              </a:rPr>
              <a:t>个</a:t>
            </a:r>
            <a:r>
              <a:rPr lang="en-US" altLang="zh-CN" dirty="0">
                <a:sym typeface="+mn-ea"/>
              </a:rPr>
              <a:t> tokens</a:t>
            </a:r>
            <a:r>
              <a:rPr lang="zh-CN" altLang="en-US" dirty="0">
                <a:sym typeface="+mn-ea"/>
              </a:rPr>
              <a:t>。图像</a:t>
            </a:r>
            <a:r>
              <a:rPr lang="en-US" altLang="zh-CN" dirty="0">
                <a:sym typeface="+mn-ea"/>
              </a:rPr>
              <a:t> tokenizer </a:t>
            </a:r>
            <a:r>
              <a:rPr lang="zh-CN" altLang="en-US" dirty="0">
                <a:sym typeface="+mn-ea"/>
              </a:rPr>
              <a:t>以自然语言任务指令为条件，并使用初始化为身份的</a:t>
            </a:r>
            <a:r>
              <a:rPr lang="en-US" altLang="zh-CN" dirty="0">
                <a:sym typeface="+mn-ea"/>
              </a:rPr>
              <a:t> FiLM </a:t>
            </a:r>
            <a:r>
              <a:rPr lang="zh-CN" altLang="en-US" dirty="0">
                <a:sym typeface="+mn-ea"/>
              </a:rPr>
              <a:t>层在早期提取与任务相关的图像特征。</a:t>
            </a:r>
            <a:endParaRPr lang="zh-CN" altLang="en-US" dirty="0">
              <a:sym typeface="+mn-ea"/>
            </a:endParaRPr>
          </a:p>
          <a:p>
            <a:pPr lvl="0">
              <a:lnSpc>
                <a:spcPct val="120000"/>
              </a:lnSpc>
              <a:defRPr/>
            </a:pPr>
            <a:endParaRPr lang="en-US" altLang="zh-CN" dirty="0">
              <a:sym typeface="+mn-ea"/>
            </a:endParaRPr>
          </a:p>
          <a:p>
            <a:pPr lvl="0">
              <a:lnSpc>
                <a:spcPct val="120000"/>
              </a:lnSpc>
              <a:defRPr/>
            </a:pPr>
            <a:r>
              <a:rPr lang="zh-CN" altLang="en-US" dirty="0">
                <a:sym typeface="+mn-ea"/>
              </a:rPr>
              <a:t>动作</a:t>
            </a:r>
            <a:r>
              <a:rPr lang="en-US" altLang="zh-CN" dirty="0">
                <a:sym typeface="+mn-ea"/>
              </a:rPr>
              <a:t> tokenization</a:t>
            </a:r>
            <a:r>
              <a:rPr lang="zh-CN" altLang="en-US" dirty="0">
                <a:sym typeface="+mn-ea"/>
              </a:rPr>
              <a:t>。机器人的动作维度包括手臂运动的</a:t>
            </a:r>
            <a:r>
              <a:rPr lang="en-US" altLang="zh-CN" dirty="0">
                <a:sym typeface="+mn-ea"/>
              </a:rPr>
              <a:t> 7 </a:t>
            </a:r>
            <a:r>
              <a:rPr lang="zh-CN" altLang="en-US" dirty="0">
                <a:sym typeface="+mn-ea"/>
              </a:rPr>
              <a:t>个变量（</a:t>
            </a:r>
            <a:r>
              <a:rPr lang="en-US" altLang="zh-CN" dirty="0">
                <a:sym typeface="+mn-ea"/>
              </a:rPr>
              <a:t>x</a:t>
            </a:r>
            <a:r>
              <a:rPr lang="zh-CN" altLang="en-US" dirty="0">
                <a:sym typeface="+mn-ea"/>
              </a:rPr>
              <a:t>、</a:t>
            </a:r>
            <a:r>
              <a:rPr lang="en-US" altLang="zh-CN" dirty="0">
                <a:sym typeface="+mn-ea"/>
              </a:rPr>
              <a:t>y</a:t>
            </a:r>
            <a:r>
              <a:rPr lang="zh-CN" altLang="en-US" dirty="0">
                <a:sym typeface="+mn-ea"/>
              </a:rPr>
              <a:t>、</a:t>
            </a:r>
            <a:r>
              <a:rPr lang="en-US" altLang="zh-CN" dirty="0">
                <a:sym typeface="+mn-ea"/>
              </a:rPr>
              <a:t>z</a:t>
            </a:r>
            <a:r>
              <a:rPr lang="zh-CN" altLang="en-US" dirty="0">
                <a:sym typeface="+mn-ea"/>
              </a:rPr>
              <a:t>、翻转、俯仰、摇摆、打开夹具）、</a:t>
            </a:r>
            <a:r>
              <a:rPr lang="en-US" altLang="zh-CN" dirty="0">
                <a:sym typeface="+mn-ea"/>
              </a:rPr>
              <a:t>3 </a:t>
            </a:r>
            <a:r>
              <a:rPr lang="zh-CN" altLang="en-US" dirty="0">
                <a:sym typeface="+mn-ea"/>
              </a:rPr>
              <a:t>个基本运动变量（</a:t>
            </a:r>
            <a:r>
              <a:rPr lang="en-US" altLang="zh-CN" dirty="0">
                <a:sym typeface="+mn-ea"/>
              </a:rPr>
              <a:t>x</a:t>
            </a:r>
            <a:r>
              <a:rPr lang="zh-CN" altLang="en-US" dirty="0">
                <a:sym typeface="+mn-ea"/>
              </a:rPr>
              <a:t>、</a:t>
            </a:r>
            <a:r>
              <a:rPr lang="en-US" altLang="zh-CN" dirty="0">
                <a:sym typeface="+mn-ea"/>
              </a:rPr>
              <a:t>y</a:t>
            </a:r>
            <a:r>
              <a:rPr lang="zh-CN" altLang="en-US" dirty="0">
                <a:sym typeface="+mn-ea"/>
              </a:rPr>
              <a:t>、摇摆）以及一个在控制臂、控制</a:t>
            </a:r>
            <a:r>
              <a:rPr lang="en-US" altLang="zh-CN" dirty="0">
                <a:sym typeface="+mn-ea"/>
              </a:rPr>
              <a:t> base </a:t>
            </a:r>
            <a:r>
              <a:rPr lang="zh-CN" altLang="en-US" dirty="0">
                <a:sym typeface="+mn-ea"/>
              </a:rPr>
              <a:t>或终止</a:t>
            </a:r>
            <a:r>
              <a:rPr lang="en-US" altLang="zh-CN" dirty="0">
                <a:sym typeface="+mn-ea"/>
              </a:rPr>
              <a:t> episode </a:t>
            </a:r>
            <a:r>
              <a:rPr lang="zh-CN" altLang="en-US" dirty="0">
                <a:sym typeface="+mn-ea"/>
              </a:rPr>
              <a:t>三种模式之间切换的额外具体变量。每个动作维度被离散化为</a:t>
            </a:r>
            <a:r>
              <a:rPr lang="en-US" altLang="zh-CN" dirty="0">
                <a:sym typeface="+mn-ea"/>
              </a:rPr>
              <a:t> 256 </a:t>
            </a:r>
            <a:r>
              <a:rPr lang="zh-CN" altLang="en-US" dirty="0">
                <a:sym typeface="+mn-ea"/>
              </a:rPr>
              <a:t>个</a:t>
            </a:r>
            <a:r>
              <a:rPr lang="en-US" altLang="zh-CN" dirty="0">
                <a:sym typeface="+mn-ea"/>
              </a:rPr>
              <a:t> bins</a:t>
            </a:r>
            <a:r>
              <a:rPr lang="zh-CN" altLang="en-US" dirty="0">
                <a:sym typeface="+mn-ea"/>
              </a:rPr>
              <a:t>。</a:t>
            </a:r>
            <a:endParaRPr lang="zh-CN" altLang="en-US" dirty="0">
              <a:sym typeface="+mn-ea"/>
            </a:endParaRPr>
          </a:p>
          <a:p>
            <a:pPr lvl="0">
              <a:lnSpc>
                <a:spcPct val="120000"/>
              </a:lnSpc>
              <a:defRPr/>
            </a:pPr>
            <a:endParaRPr lang="en-US" altLang="zh-CN" dirty="0">
              <a:sym typeface="+mn-ea"/>
            </a:endParaRPr>
          </a:p>
          <a:p>
            <a:pPr lvl="0">
              <a:lnSpc>
                <a:spcPct val="120000"/>
              </a:lnSpc>
              <a:defRPr/>
            </a:pPr>
            <a:r>
              <a:rPr lang="en-US" altLang="zh-CN" dirty="0">
                <a:sym typeface="+mn-ea"/>
              </a:rPr>
              <a:t>Token </a:t>
            </a:r>
            <a:r>
              <a:rPr lang="zh-CN" altLang="en-US" dirty="0">
                <a:sym typeface="+mn-ea"/>
              </a:rPr>
              <a:t>压缩。</a:t>
            </a:r>
            <a:r>
              <a:rPr lang="en-US" altLang="zh-CN" dirty="0">
                <a:sym typeface="+mn-ea"/>
              </a:rPr>
              <a:t>RT-1 </a:t>
            </a:r>
            <a:r>
              <a:rPr lang="zh-CN" altLang="en-US" dirty="0">
                <a:sym typeface="+mn-ea"/>
              </a:rPr>
              <a:t>自适应地选择图像</a:t>
            </a:r>
            <a:r>
              <a:rPr lang="en-US" altLang="zh-CN" dirty="0">
                <a:sym typeface="+mn-ea"/>
              </a:rPr>
              <a:t> tokens </a:t>
            </a:r>
            <a:r>
              <a:rPr lang="zh-CN" altLang="en-US" dirty="0">
                <a:sym typeface="+mn-ea"/>
              </a:rPr>
              <a:t>的软组合，这些组合根据它们对使用元素级注意力模块</a:t>
            </a:r>
            <a:r>
              <a:rPr lang="en-US" altLang="zh-CN" dirty="0">
                <a:sym typeface="+mn-ea"/>
              </a:rPr>
              <a:t> TokenLearner </a:t>
            </a:r>
            <a:r>
              <a:rPr lang="zh-CN" altLang="en-US" dirty="0">
                <a:sym typeface="+mn-ea"/>
              </a:rPr>
              <a:t>学习的影响进行压缩，使推理速度提升</a:t>
            </a:r>
            <a:r>
              <a:rPr lang="en-US" altLang="zh-CN" dirty="0">
                <a:sym typeface="+mn-ea"/>
              </a:rPr>
              <a:t> 2.4 </a:t>
            </a:r>
            <a:r>
              <a:rPr lang="zh-CN" altLang="en-US" dirty="0">
                <a:sym typeface="+mn-ea"/>
              </a:rPr>
              <a:t>倍以上。</a:t>
            </a:r>
            <a:endParaRPr lang="zh-CN" altLang="en-US" dirty="0">
              <a:sym typeface="+mn-ea"/>
            </a:endParaRPr>
          </a:p>
          <a:p>
            <a:pPr lvl="0">
              <a:lnSpc>
                <a:spcPct val="120000"/>
              </a:lnSpc>
              <a:defRPr/>
            </a:pP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nvSpPr>
        <p:spPr>
          <a:xfrm>
            <a:off x="982345" y="177800"/>
            <a:ext cx="4064000" cy="706755"/>
          </a:xfrm>
          <a:prstGeom prst="rect">
            <a:avLst/>
          </a:prstGeom>
          <a:noFill/>
        </p:spPr>
        <p:txBody>
          <a:bodyPr wrap="square" rtlCol="0">
            <a:spAutoFit/>
          </a:bodyPr>
          <a:p>
            <a:r>
              <a:rPr lang="en-US" altLang="zh-CN" sz="4000" dirty="0" smtClean="0">
                <a:latin typeface="+mj-ea"/>
                <a:ea typeface="+mj-ea"/>
              </a:rPr>
              <a:t>RT-1 </a:t>
            </a:r>
            <a:r>
              <a:rPr lang="zh-CN" altLang="en-US" sz="4000" dirty="0" smtClean="0">
                <a:latin typeface="+mj-ea"/>
                <a:ea typeface="+mj-ea"/>
              </a:rPr>
              <a:t>模型概览</a:t>
            </a:r>
            <a:endParaRPr lang="zh-CN" altLang="en-US" sz="4000" dirty="0" smtClean="0">
              <a:latin typeface="+mj-ea"/>
              <a:ea typeface="+mj-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iterate type="lt">
                                    <p:tmPct val="5000"/>
                                  </p:iterate>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Effect transition="in" filter="fade">
                                      <p:cBhvr>
                                        <p:cTn id="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59815" y="341630"/>
            <a:ext cx="5784850" cy="521970"/>
          </a:xfrm>
          <a:prstGeom prst="rect">
            <a:avLst/>
          </a:prstGeom>
          <a:noFill/>
        </p:spPr>
        <p:txBody>
          <a:bodyPr wrap="square" rtlCol="0">
            <a:spAutoFit/>
          </a:bodyPr>
          <a:p>
            <a:r>
              <a:rPr lang="en-US" altLang="zh-CN" sz="2800" dirty="0" smtClean="0">
                <a:latin typeface="+mj-ea"/>
                <a:ea typeface="+mj-ea"/>
              </a:rPr>
              <a:t>RT-1 </a:t>
            </a:r>
            <a:r>
              <a:rPr lang="zh-CN" altLang="en-US" sz="2800" dirty="0" smtClean="0">
                <a:latin typeface="+mj-ea"/>
                <a:ea typeface="+mj-ea"/>
              </a:rPr>
              <a:t>架构、数据集和评估概览图</a:t>
            </a:r>
            <a:endParaRPr lang="zh-CN" altLang="en-US" sz="2800" dirty="0" smtClean="0">
              <a:latin typeface="+mj-ea"/>
              <a:ea typeface="+mj-ea"/>
            </a:endParaRPr>
          </a:p>
        </p:txBody>
      </p:sp>
      <p:pic>
        <p:nvPicPr>
          <p:cNvPr id="3" name="图片 2"/>
          <p:cNvPicPr/>
          <p:nvPr/>
        </p:nvPicPr>
        <p:blipFill>
          <a:blip r:embed="rId1"/>
          <a:stretch>
            <a:fillRect/>
          </a:stretch>
        </p:blipFill>
        <p:spPr>
          <a:xfrm>
            <a:off x="1328420" y="1074420"/>
            <a:ext cx="9497060" cy="56661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306830" y="238125"/>
            <a:ext cx="4064000" cy="706755"/>
          </a:xfrm>
          <a:prstGeom prst="rect">
            <a:avLst/>
          </a:prstGeom>
          <a:noFill/>
        </p:spPr>
        <p:txBody>
          <a:bodyPr wrap="square" rtlCol="0">
            <a:spAutoFit/>
          </a:bodyPr>
          <a:p>
            <a:r>
              <a:rPr lang="zh-CN" altLang="en-US" sz="4000" dirty="0" smtClean="0">
                <a:latin typeface="+mj-ea"/>
                <a:ea typeface="+mj-ea"/>
              </a:rPr>
              <a:t>实验和结果</a:t>
            </a:r>
            <a:endParaRPr lang="zh-CN" altLang="en-US" sz="4000" dirty="0" smtClean="0">
              <a:latin typeface="+mj-ea"/>
              <a:ea typeface="+mj-ea"/>
            </a:endParaRPr>
          </a:p>
        </p:txBody>
      </p:sp>
      <p:sp>
        <p:nvSpPr>
          <p:cNvPr id="4" name="文本框 3"/>
          <p:cNvSpPr txBox="1"/>
          <p:nvPr/>
        </p:nvSpPr>
        <p:spPr>
          <a:xfrm>
            <a:off x="331470" y="1071880"/>
            <a:ext cx="11432540" cy="4244975"/>
          </a:xfrm>
          <a:prstGeom prst="rect">
            <a:avLst/>
          </a:prstGeom>
          <a:noFill/>
        </p:spPr>
        <p:txBody>
          <a:bodyPr wrap="none" rtlCol="0">
            <a:noAutofit/>
          </a:bodyPr>
          <a:p>
            <a:pPr algn="l"/>
            <a:r>
              <a:rPr lang="zh-CN" altLang="en-US" sz="1400" dirty="0" smtClean="0">
                <a:latin typeface="+mj-ea"/>
                <a:ea typeface="+mj-ea"/>
              </a:rPr>
              <a:t>为了更好地理解</a:t>
            </a:r>
            <a:r>
              <a:rPr lang="en-US" altLang="zh-CN" sz="1400" dirty="0" smtClean="0">
                <a:latin typeface="+mj-ea"/>
                <a:ea typeface="+mj-ea"/>
              </a:rPr>
              <a:t> RT-1 </a:t>
            </a:r>
            <a:r>
              <a:rPr lang="zh-CN" altLang="en-US" sz="1400" dirty="0" smtClean="0">
                <a:latin typeface="+mj-ea"/>
                <a:ea typeface="+mj-ea"/>
              </a:rPr>
              <a:t>的泛化能力，该团队在三个基准上进行了实验：</a:t>
            </a:r>
            <a:r>
              <a:rPr lang="en-US" altLang="zh-CN" sz="1400" dirty="0" smtClean="0">
                <a:latin typeface="+mj-ea"/>
                <a:ea typeface="+mj-ea"/>
              </a:rPr>
              <a:t>Gato</a:t>
            </a:r>
            <a:r>
              <a:rPr lang="zh-CN" altLang="en-US" sz="1400" dirty="0" smtClean="0">
                <a:latin typeface="+mj-ea"/>
                <a:ea typeface="+mj-ea"/>
              </a:rPr>
              <a:t>、</a:t>
            </a:r>
            <a:r>
              <a:rPr lang="en-US" altLang="zh-CN" sz="1400" dirty="0" smtClean="0">
                <a:latin typeface="+mj-ea"/>
                <a:ea typeface="+mj-ea"/>
              </a:rPr>
              <a:t>BC-Z</a:t>
            </a:r>
            <a:r>
              <a:rPr lang="zh-CN" altLang="en-US" sz="1400" dirty="0" smtClean="0">
                <a:latin typeface="+mj-ea"/>
                <a:ea typeface="+mj-ea"/>
              </a:rPr>
              <a:t>（与</a:t>
            </a:r>
            <a:r>
              <a:rPr lang="en-US" altLang="zh-CN" sz="1400" dirty="0" smtClean="0">
                <a:latin typeface="+mj-ea"/>
                <a:ea typeface="+mj-ea"/>
              </a:rPr>
              <a:t> RT-1 </a:t>
            </a:r>
            <a:r>
              <a:rPr lang="zh-CN" altLang="en-US" sz="1400" dirty="0" smtClean="0">
                <a:latin typeface="+mj-ea"/>
                <a:ea typeface="+mj-ea"/>
              </a:rPr>
              <a:t>参数量相同）和</a:t>
            </a:r>
            <a:r>
              <a:rPr lang="en-US" altLang="zh-CN" sz="1400" dirty="0" smtClean="0">
                <a:latin typeface="+mj-ea"/>
                <a:ea typeface="+mj-ea"/>
              </a:rPr>
              <a:t> BC-Z XL</a:t>
            </a:r>
            <a:r>
              <a:rPr lang="zh-CN" altLang="en-US" sz="1400" dirty="0" smtClean="0">
                <a:latin typeface="+mj-ea"/>
                <a:ea typeface="+mj-ea"/>
              </a:rPr>
              <a:t>，并通过四个类别进行比较。</a:t>
            </a:r>
            <a:endParaRPr lang="en-US" altLang="zh-CN" sz="1400" dirty="0" smtClean="0">
              <a:latin typeface="+mj-ea"/>
              <a:ea typeface="+mj-ea"/>
            </a:endParaRPr>
          </a:p>
          <a:p>
            <a:pPr algn="l"/>
            <a:r>
              <a:rPr lang="en-US" altLang="zh-CN" sz="1400" dirty="0" smtClean="0">
                <a:latin typeface="+mj-ea"/>
                <a:ea typeface="+mj-ea"/>
              </a:rPr>
              <a:t>1</a:t>
            </a:r>
            <a:r>
              <a:rPr lang="zh-CN" altLang="en-US" sz="1400" dirty="0" smtClean="0">
                <a:latin typeface="+mj-ea"/>
                <a:ea typeface="+mj-ea"/>
              </a:rPr>
              <a:t>，在所见到的任务上的表现；</a:t>
            </a:r>
            <a:endParaRPr lang="en-US" altLang="zh-CN" sz="1400" dirty="0" smtClean="0">
              <a:latin typeface="+mj-ea"/>
              <a:ea typeface="+mj-ea"/>
            </a:endParaRPr>
          </a:p>
          <a:p>
            <a:pPr algn="l"/>
            <a:r>
              <a:rPr lang="en-US" altLang="zh-CN" sz="1400" dirty="0" smtClean="0">
                <a:latin typeface="+mj-ea"/>
                <a:ea typeface="+mj-ea"/>
              </a:rPr>
              <a:t>2</a:t>
            </a:r>
            <a:r>
              <a:rPr lang="zh-CN" altLang="en-US" sz="1400" dirty="0" smtClean="0">
                <a:latin typeface="+mj-ea"/>
                <a:ea typeface="+mj-ea"/>
              </a:rPr>
              <a:t>，在没见过任务上的表现：在训练集中，机器人的技能和对象是分开看到的，但以新颖的方式结合在一起；</a:t>
            </a:r>
            <a:endParaRPr lang="en-US" altLang="zh-CN" sz="1400" dirty="0" smtClean="0">
              <a:latin typeface="+mj-ea"/>
              <a:ea typeface="+mj-ea"/>
            </a:endParaRPr>
          </a:p>
          <a:p>
            <a:pPr algn="l"/>
            <a:r>
              <a:rPr lang="en-US" altLang="zh-CN" sz="1400" dirty="0" smtClean="0">
                <a:latin typeface="+mj-ea"/>
                <a:ea typeface="+mj-ea"/>
              </a:rPr>
              <a:t>3</a:t>
            </a:r>
            <a:r>
              <a:rPr lang="zh-CN" altLang="en-US" sz="1400" dirty="0" smtClean="0">
                <a:latin typeface="+mj-ea"/>
                <a:ea typeface="+mj-ea"/>
              </a:rPr>
              <a:t>，鲁棒性：在有干扰（有</a:t>
            </a:r>
            <a:r>
              <a:rPr lang="en-US" altLang="zh-CN" sz="1400" dirty="0" smtClean="0">
                <a:latin typeface="+mj-ea"/>
                <a:ea typeface="+mj-ea"/>
              </a:rPr>
              <a:t> 9 </a:t>
            </a:r>
            <a:r>
              <a:rPr lang="zh-CN" altLang="en-US" sz="1400" dirty="0" smtClean="0">
                <a:latin typeface="+mj-ea"/>
                <a:ea typeface="+mj-ea"/>
              </a:rPr>
              <a:t>个干扰，此外还有遮挡情况）、改变背景（换个新厨房、光照不同等）上的任务表现；</a:t>
            </a:r>
            <a:endParaRPr lang="en-US" altLang="zh-CN" sz="1400" dirty="0" smtClean="0">
              <a:latin typeface="+mj-ea"/>
              <a:ea typeface="+mj-ea"/>
            </a:endParaRPr>
          </a:p>
          <a:p>
            <a:pPr algn="l"/>
            <a:r>
              <a:rPr lang="en-US" altLang="zh-CN" sz="1400" dirty="0" smtClean="0">
                <a:latin typeface="+mj-ea"/>
                <a:ea typeface="+mj-ea"/>
              </a:rPr>
              <a:t>4</a:t>
            </a:r>
            <a:r>
              <a:rPr lang="zh-CN" altLang="en-US" sz="1400" dirty="0" smtClean="0">
                <a:latin typeface="+mj-ea"/>
                <a:ea typeface="+mj-ea"/>
              </a:rPr>
              <a:t>，长情景：在真实厨房中执行</a:t>
            </a:r>
            <a:r>
              <a:rPr lang="en-US" altLang="zh-CN" sz="1400" dirty="0" smtClean="0">
                <a:latin typeface="+mj-ea"/>
                <a:ea typeface="+mj-ea"/>
              </a:rPr>
              <a:t> SayCan </a:t>
            </a:r>
            <a:r>
              <a:rPr lang="zh-CN" altLang="en-US" sz="1400" dirty="0" smtClean="0">
                <a:latin typeface="+mj-ea"/>
                <a:ea typeface="+mj-ea"/>
              </a:rPr>
              <a:t>类型的自然语言指令。</a:t>
            </a:r>
            <a:endParaRPr lang="en-US" altLang="zh-CN" sz="1400" dirty="0" smtClean="0">
              <a:latin typeface="+mj-ea"/>
              <a:ea typeface="+mj-ea"/>
            </a:endParaRPr>
          </a:p>
          <a:p>
            <a:pPr algn="l"/>
            <a:r>
              <a:rPr lang="en-US" altLang="zh-CN" sz="1400" dirty="0" smtClean="0">
                <a:latin typeface="+mj-ea"/>
                <a:ea typeface="+mj-ea"/>
              </a:rPr>
              <a:t>RT-1 </a:t>
            </a:r>
            <a:r>
              <a:rPr lang="zh-CN" altLang="en-US" sz="1400" dirty="0" smtClean="0">
                <a:latin typeface="+mj-ea"/>
                <a:ea typeface="+mj-ea"/>
              </a:rPr>
              <a:t>在四个类别的比较中都大大超过基线，表现出极强的泛化性和鲁棒性。</a:t>
            </a:r>
            <a:endParaRPr lang="zh-CN" altLang="en-US" sz="1400" dirty="0" smtClean="0">
              <a:latin typeface="+mj-ea"/>
              <a:ea typeface="+mj-ea"/>
            </a:endParaRPr>
          </a:p>
          <a:p>
            <a:pPr algn="l"/>
            <a:endParaRPr lang="en-US" altLang="zh-CN" sz="1400" dirty="0" smtClean="0">
              <a:latin typeface="+mj-ea"/>
              <a:ea typeface="+mj-ea"/>
            </a:endParaRPr>
          </a:p>
        </p:txBody>
      </p:sp>
      <p:pic>
        <p:nvPicPr>
          <p:cNvPr id="5" name="图片 4" descr="d6e34ae6-9b7e-4384-9388-83711586c395"/>
          <p:cNvPicPr>
            <a:picLocks noChangeAspect="1"/>
          </p:cNvPicPr>
          <p:nvPr/>
        </p:nvPicPr>
        <p:blipFill>
          <a:blip r:embed="rId1"/>
          <a:stretch>
            <a:fillRect/>
          </a:stretch>
        </p:blipFill>
        <p:spPr>
          <a:xfrm>
            <a:off x="2451100" y="2686050"/>
            <a:ext cx="6096000" cy="387667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57300" y="390208"/>
            <a:ext cx="5080000" cy="398780"/>
          </a:xfrm>
          <a:prstGeom prst="rect">
            <a:avLst/>
          </a:prstGeom>
        </p:spPr>
        <p:txBody>
          <a:bodyPr>
            <a:spAutoFit/>
          </a:bodyPr>
          <a:p>
            <a:pPr marL="0" indent="0"/>
            <a:r>
              <a:rPr lang="zh-CN" altLang="en-US" sz="2000" b="1" i="0">
                <a:solidFill>
                  <a:srgbClr val="4D4D4D"/>
                </a:solidFill>
                <a:latin typeface="-apple-system"/>
                <a:ea typeface="-apple-system"/>
              </a:rPr>
              <a:t>整合异构数据源</a:t>
            </a:r>
            <a:endParaRPr lang="zh-CN" altLang="en-US" sz="2000" b="1" i="0">
              <a:solidFill>
                <a:srgbClr val="4D4D4D"/>
              </a:solidFill>
              <a:latin typeface="-apple-system"/>
              <a:ea typeface="-apple-system"/>
            </a:endParaRPr>
          </a:p>
        </p:txBody>
      </p:sp>
      <p:sp>
        <p:nvSpPr>
          <p:cNvPr id="3" name="文本框 2"/>
          <p:cNvSpPr txBox="1"/>
          <p:nvPr/>
        </p:nvSpPr>
        <p:spPr>
          <a:xfrm>
            <a:off x="406400" y="1061085"/>
            <a:ext cx="11111230" cy="1832610"/>
          </a:xfrm>
          <a:prstGeom prst="rect">
            <a:avLst/>
          </a:prstGeom>
          <a:noFill/>
        </p:spPr>
        <p:txBody>
          <a:bodyPr wrap="square" rtlCol="0">
            <a:noAutofit/>
          </a:bodyPr>
          <a:p>
            <a:r>
              <a:rPr lang="zh-CN" altLang="en-US" sz="2400" dirty="0" smtClean="0">
                <a:latin typeface="+mj-ea"/>
                <a:ea typeface="+mj-ea"/>
              </a:rPr>
              <a:t>为了进一步挖掘</a:t>
            </a:r>
            <a:r>
              <a:rPr lang="en-US" altLang="zh-CN" sz="2400" dirty="0" smtClean="0">
                <a:latin typeface="+mj-ea"/>
                <a:ea typeface="+mj-ea"/>
              </a:rPr>
              <a:t> RT-1 </a:t>
            </a:r>
            <a:r>
              <a:rPr lang="zh-CN" altLang="en-US" sz="2400" dirty="0" smtClean="0">
                <a:latin typeface="+mj-ea"/>
                <a:ea typeface="+mj-ea"/>
              </a:rPr>
              <a:t>的性能，该团队还将训练另一个机器人的数据用来训练</a:t>
            </a:r>
            <a:r>
              <a:rPr lang="en-US" altLang="zh-CN" sz="2400" dirty="0" smtClean="0">
                <a:latin typeface="+mj-ea"/>
                <a:ea typeface="+mj-ea"/>
              </a:rPr>
              <a:t> RT-1</a:t>
            </a:r>
            <a:r>
              <a:rPr lang="zh-CN" altLang="en-US" sz="2400" dirty="0" smtClean="0">
                <a:latin typeface="+mj-ea"/>
                <a:ea typeface="+mj-ea"/>
              </a:rPr>
              <a:t>，目的有两个：</a:t>
            </a:r>
            <a:r>
              <a:rPr lang="en-US" altLang="zh-CN" sz="2400" dirty="0" smtClean="0">
                <a:latin typeface="+mj-ea"/>
                <a:ea typeface="+mj-ea"/>
              </a:rPr>
              <a:t>(1) </a:t>
            </a:r>
            <a:r>
              <a:rPr lang="zh-CN" altLang="en-US" sz="2400" dirty="0" smtClean="0">
                <a:latin typeface="+mj-ea"/>
                <a:ea typeface="+mj-ea"/>
              </a:rPr>
              <a:t>测试模型在新数据上是否保持其在原始任务上的性能；</a:t>
            </a:r>
            <a:r>
              <a:rPr lang="en-US" altLang="zh-CN" sz="2400" dirty="0" smtClean="0">
                <a:latin typeface="+mj-ea"/>
                <a:ea typeface="+mj-ea"/>
              </a:rPr>
              <a:t>(2) </a:t>
            </a:r>
            <a:r>
              <a:rPr lang="zh-CN" altLang="en-US" sz="2400" dirty="0" smtClean="0">
                <a:latin typeface="+mj-ea"/>
                <a:ea typeface="+mj-ea"/>
              </a:rPr>
              <a:t>观察模型在新的以及不同数据上泛化能力。</a:t>
            </a:r>
            <a:endParaRPr lang="zh-CN" altLang="en-US" sz="2400" dirty="0" smtClean="0">
              <a:latin typeface="+mj-ea"/>
              <a:ea typeface="+mj-ea"/>
            </a:endParaRPr>
          </a:p>
        </p:txBody>
      </p:sp>
      <p:pic>
        <p:nvPicPr>
          <p:cNvPr id="4" name="图片 3"/>
          <p:cNvPicPr/>
          <p:nvPr/>
        </p:nvPicPr>
        <p:blipFill>
          <a:blip r:embed="rId1"/>
          <a:stretch>
            <a:fillRect/>
          </a:stretch>
        </p:blipFill>
        <p:spPr>
          <a:xfrm>
            <a:off x="6011545" y="1859280"/>
            <a:ext cx="5506085" cy="2747010"/>
          </a:xfrm>
          <a:prstGeom prst="rect">
            <a:avLst/>
          </a:prstGeom>
        </p:spPr>
      </p:pic>
      <p:sp>
        <p:nvSpPr>
          <p:cNvPr id="5" name="文本框 4"/>
          <p:cNvSpPr txBox="1"/>
          <p:nvPr/>
        </p:nvSpPr>
        <p:spPr>
          <a:xfrm>
            <a:off x="406400" y="2398395"/>
            <a:ext cx="5325110" cy="2061210"/>
          </a:xfrm>
          <a:prstGeom prst="rect">
            <a:avLst/>
          </a:prstGeom>
          <a:noFill/>
        </p:spPr>
        <p:txBody>
          <a:bodyPr wrap="square" rtlCol="0">
            <a:spAutoFit/>
          </a:bodyPr>
          <a:p>
            <a:pPr algn="l"/>
            <a:r>
              <a:rPr lang="zh-CN" altLang="en-US" sz="1600" dirty="0" smtClean="0">
                <a:latin typeface="+mj-ea"/>
                <a:ea typeface="+mj-ea"/>
              </a:rPr>
              <a:t>结果表明，</a:t>
            </a:r>
            <a:r>
              <a:rPr lang="en-US" altLang="zh-CN" sz="1600" dirty="0" smtClean="0">
                <a:latin typeface="+mj-ea"/>
                <a:ea typeface="+mj-ea"/>
              </a:rPr>
              <a:t>RT-1 </a:t>
            </a:r>
            <a:r>
              <a:rPr lang="zh-CN" altLang="en-US" sz="1600" dirty="0" smtClean="0">
                <a:latin typeface="+mj-ea"/>
                <a:ea typeface="+mj-ea"/>
              </a:rPr>
              <a:t>能够通过观察其他机器人的经验来获得新技能。特别是，当</a:t>
            </a:r>
            <a:r>
              <a:rPr lang="en-US" altLang="zh-CN" sz="1600" dirty="0" smtClean="0">
                <a:latin typeface="+mj-ea"/>
                <a:ea typeface="+mj-ea"/>
              </a:rPr>
              <a:t> RT-1 </a:t>
            </a:r>
            <a:r>
              <a:rPr lang="zh-CN" altLang="en-US" sz="1600" dirty="0" smtClean="0">
                <a:latin typeface="+mj-ea"/>
                <a:ea typeface="+mj-ea"/>
              </a:rPr>
              <a:t>同时使用来自</a:t>
            </a:r>
            <a:r>
              <a:rPr lang="en-US" altLang="zh-CN" sz="1600" dirty="0" smtClean="0">
                <a:latin typeface="+mj-ea"/>
                <a:ea typeface="+mj-ea"/>
              </a:rPr>
              <a:t> Kuka bin-picking </a:t>
            </a:r>
            <a:r>
              <a:rPr lang="zh-CN" altLang="en-US" sz="1600" dirty="0" smtClean="0">
                <a:latin typeface="+mj-ea"/>
                <a:ea typeface="+mj-ea"/>
              </a:rPr>
              <a:t>数据和</a:t>
            </a:r>
            <a:r>
              <a:rPr lang="en-US" altLang="zh-CN" sz="1600" dirty="0" smtClean="0">
                <a:latin typeface="+mj-ea"/>
                <a:ea typeface="+mj-ea"/>
              </a:rPr>
              <a:t> EDR </a:t>
            </a:r>
            <a:r>
              <a:rPr lang="zh-CN" altLang="en-US" sz="1600" dirty="0" smtClean="0">
                <a:latin typeface="+mj-ea"/>
                <a:ea typeface="+mj-ea"/>
              </a:rPr>
              <a:t>数据进行训练时，准确率达到</a:t>
            </a:r>
            <a:r>
              <a:rPr lang="en-US" altLang="zh-CN" sz="1600" dirty="0" smtClean="0">
                <a:latin typeface="+mj-ea"/>
                <a:ea typeface="+mj-ea"/>
              </a:rPr>
              <a:t> 39%</a:t>
            </a:r>
            <a:r>
              <a:rPr lang="zh-CN" altLang="en-US" sz="1600" dirty="0" smtClean="0">
                <a:latin typeface="+mj-ea"/>
                <a:ea typeface="+mj-ea"/>
              </a:rPr>
              <a:t>。比仅使用</a:t>
            </a:r>
            <a:r>
              <a:rPr lang="en-US" altLang="zh-CN" sz="1600" dirty="0" smtClean="0">
                <a:latin typeface="+mj-ea"/>
                <a:ea typeface="+mj-ea"/>
              </a:rPr>
              <a:t> EDR </a:t>
            </a:r>
            <a:r>
              <a:rPr lang="zh-CN" altLang="en-US" sz="1600" dirty="0" smtClean="0">
                <a:latin typeface="+mj-ea"/>
                <a:ea typeface="+mj-ea"/>
              </a:rPr>
              <a:t>数据训练时的</a:t>
            </a:r>
            <a:r>
              <a:rPr lang="en-US" altLang="zh-CN" sz="1600" dirty="0" smtClean="0">
                <a:latin typeface="+mj-ea"/>
                <a:ea typeface="+mj-ea"/>
              </a:rPr>
              <a:t> 22% </a:t>
            </a:r>
            <a:r>
              <a:rPr lang="zh-CN" altLang="en-US" sz="1600" dirty="0" smtClean="0">
                <a:latin typeface="+mj-ea"/>
                <a:ea typeface="+mj-ea"/>
              </a:rPr>
              <a:t>准确率提高了近</a:t>
            </a:r>
            <a:r>
              <a:rPr lang="en-US" altLang="zh-CN" sz="1600" dirty="0" smtClean="0">
                <a:latin typeface="+mj-ea"/>
                <a:ea typeface="+mj-ea"/>
              </a:rPr>
              <a:t> 2 </a:t>
            </a:r>
            <a:r>
              <a:rPr lang="zh-CN" altLang="en-US" sz="1600" dirty="0" smtClean="0">
                <a:latin typeface="+mj-ea"/>
                <a:ea typeface="+mj-ea"/>
              </a:rPr>
              <a:t>倍。</a:t>
            </a:r>
            <a:endParaRPr lang="zh-CN" altLang="en-US" sz="1600" dirty="0" smtClean="0">
              <a:latin typeface="+mj-ea"/>
              <a:ea typeface="+mj-ea"/>
            </a:endParaRPr>
          </a:p>
          <a:p>
            <a:pPr algn="l"/>
            <a:endParaRPr lang="en-US" altLang="zh-CN" sz="1600" dirty="0" smtClean="0">
              <a:latin typeface="+mj-ea"/>
              <a:ea typeface="+mj-ea"/>
            </a:endParaRPr>
          </a:p>
          <a:p>
            <a:pPr algn="l"/>
            <a:r>
              <a:rPr lang="zh-CN" altLang="en-US" sz="1600" dirty="0" smtClean="0">
                <a:latin typeface="+mj-ea"/>
                <a:ea typeface="+mj-ea"/>
              </a:rPr>
              <a:t>当</a:t>
            </a:r>
            <a:r>
              <a:rPr lang="en-US" altLang="zh-CN" sz="1600" dirty="0" smtClean="0">
                <a:latin typeface="+mj-ea"/>
                <a:ea typeface="+mj-ea"/>
              </a:rPr>
              <a:t> RT-1 </a:t>
            </a:r>
            <a:r>
              <a:rPr lang="zh-CN" altLang="en-US" sz="1600" dirty="0" smtClean="0">
                <a:latin typeface="+mj-ea"/>
                <a:ea typeface="+mj-ea"/>
              </a:rPr>
              <a:t>仅在</a:t>
            </a:r>
            <a:r>
              <a:rPr lang="en-US" altLang="zh-CN" sz="1600" dirty="0" smtClean="0">
                <a:latin typeface="+mj-ea"/>
                <a:ea typeface="+mj-ea"/>
              </a:rPr>
              <a:t> Kuka bin-picking </a:t>
            </a:r>
            <a:r>
              <a:rPr lang="zh-CN" altLang="en-US" sz="1600" dirty="0" smtClean="0">
                <a:latin typeface="+mj-ea"/>
                <a:ea typeface="+mj-ea"/>
              </a:rPr>
              <a:t>数据上进行训练，然后在</a:t>
            </a:r>
            <a:r>
              <a:rPr lang="en-US" altLang="zh-CN" sz="1600" dirty="0" smtClean="0">
                <a:latin typeface="+mj-ea"/>
                <a:ea typeface="+mj-ea"/>
              </a:rPr>
              <a:t> EDR robot bin-picking </a:t>
            </a:r>
            <a:r>
              <a:rPr lang="zh-CN" altLang="en-US" sz="1600" dirty="0" smtClean="0">
                <a:latin typeface="+mj-ea"/>
                <a:ea typeface="+mj-ea"/>
              </a:rPr>
              <a:t>数据上评估时，准确率为</a:t>
            </a:r>
            <a:r>
              <a:rPr lang="en-US" altLang="zh-CN" sz="1600" dirty="0" smtClean="0">
                <a:latin typeface="+mj-ea"/>
                <a:ea typeface="+mj-ea"/>
              </a:rPr>
              <a:t> 0</a:t>
            </a:r>
            <a:r>
              <a:rPr lang="zh-CN" altLang="en-US" sz="1600" dirty="0" smtClean="0">
                <a:latin typeface="+mj-ea"/>
                <a:ea typeface="+mj-ea"/>
              </a:rPr>
              <a:t>。</a:t>
            </a:r>
            <a:endParaRPr lang="zh-CN" altLang="en-US" sz="1600" dirty="0" smtClean="0">
              <a:latin typeface="+mj-ea"/>
              <a:ea typeface="+mj-ea"/>
            </a:endParaRPr>
          </a:p>
          <a:p>
            <a:pPr algn="l"/>
            <a:endParaRPr lang="en-US" altLang="zh-CN" sz="1600" dirty="0" smtClean="0">
              <a:latin typeface="+mj-ea"/>
              <a:ea typeface="+mj-ea"/>
            </a:endParaRPr>
          </a:p>
        </p:txBody>
      </p:sp>
      <p:pic>
        <p:nvPicPr>
          <p:cNvPr id="6" name="图片 5"/>
          <p:cNvPicPr/>
          <p:nvPr/>
        </p:nvPicPr>
        <p:blipFill>
          <a:blip r:embed="rId2"/>
          <a:stretch>
            <a:fillRect/>
          </a:stretch>
        </p:blipFill>
        <p:spPr>
          <a:xfrm>
            <a:off x="406400" y="4606290"/>
            <a:ext cx="7106285" cy="21355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939165" y="171450"/>
            <a:ext cx="4064000" cy="706755"/>
          </a:xfrm>
          <a:prstGeom prst="rect">
            <a:avLst/>
          </a:prstGeom>
          <a:noFill/>
        </p:spPr>
        <p:txBody>
          <a:bodyPr wrap="square" rtlCol="0">
            <a:spAutoFit/>
          </a:bodyPr>
          <a:p>
            <a:r>
              <a:rPr lang="en-US" altLang="zh-CN" sz="4000" dirty="0" smtClean="0">
                <a:latin typeface="+mj-ea"/>
                <a:ea typeface="+mj-ea"/>
              </a:rPr>
              <a:t>SayCan </a:t>
            </a:r>
            <a:r>
              <a:rPr lang="zh-CN" altLang="en-US" sz="4000" dirty="0" smtClean="0">
                <a:latin typeface="+mj-ea"/>
                <a:ea typeface="+mj-ea"/>
              </a:rPr>
              <a:t>任务</a:t>
            </a:r>
            <a:endParaRPr lang="zh-CN" altLang="en-US" sz="4000" dirty="0" smtClean="0">
              <a:latin typeface="+mj-ea"/>
              <a:ea typeface="+mj-ea"/>
            </a:endParaRPr>
          </a:p>
        </p:txBody>
      </p:sp>
      <p:sp>
        <p:nvSpPr>
          <p:cNvPr id="3" name="文本框 2"/>
          <p:cNvSpPr txBox="1"/>
          <p:nvPr/>
        </p:nvSpPr>
        <p:spPr>
          <a:xfrm>
            <a:off x="330200" y="1154430"/>
            <a:ext cx="10172065" cy="2861310"/>
          </a:xfrm>
          <a:prstGeom prst="rect">
            <a:avLst/>
          </a:prstGeom>
          <a:noFill/>
        </p:spPr>
        <p:txBody>
          <a:bodyPr wrap="square" rtlCol="0" anchor="t">
            <a:spAutoFit/>
          </a:bodyPr>
          <a:p>
            <a:r>
              <a:rPr lang="en-US" altLang="zh-CN" sz="2000" dirty="0" smtClean="0">
                <a:latin typeface="+mj-ea"/>
                <a:ea typeface="+mj-ea"/>
              </a:rPr>
              <a:t>RT-1 </a:t>
            </a:r>
            <a:r>
              <a:rPr lang="zh-CN" altLang="en-US" sz="2000" dirty="0" smtClean="0">
                <a:latin typeface="+mj-ea"/>
                <a:ea typeface="+mj-ea"/>
              </a:rPr>
              <a:t>的高性能和泛化能力可以通过</a:t>
            </a:r>
            <a:r>
              <a:rPr lang="en-US" altLang="zh-CN" sz="2000" dirty="0" smtClean="0">
                <a:latin typeface="+mj-ea"/>
                <a:ea typeface="+mj-ea"/>
              </a:rPr>
              <a:t> SayCan </a:t>
            </a:r>
            <a:r>
              <a:rPr lang="zh-CN" altLang="en-US" sz="2000" dirty="0" smtClean="0">
                <a:latin typeface="+mj-ea"/>
                <a:ea typeface="+mj-ea"/>
              </a:rPr>
              <a:t>实现远距离、移动操作任务。</a:t>
            </a:r>
            <a:r>
              <a:rPr lang="en-US" altLang="zh-CN" sz="2000" dirty="0" smtClean="0">
                <a:latin typeface="+mj-ea"/>
                <a:ea typeface="+mj-ea"/>
              </a:rPr>
              <a:t>SayCan </a:t>
            </a:r>
            <a:r>
              <a:rPr lang="zh-CN" altLang="en-US" sz="2000" dirty="0" smtClean="0">
                <a:latin typeface="+mj-ea"/>
                <a:ea typeface="+mj-ea"/>
              </a:rPr>
              <a:t>算法是谷歌在</a:t>
            </a:r>
            <a:r>
              <a:rPr lang="en-US" altLang="zh-CN" sz="2000" dirty="0" smtClean="0">
                <a:latin typeface="+mj-ea"/>
                <a:ea typeface="+mj-ea"/>
              </a:rPr>
              <a:t>2022</a:t>
            </a:r>
            <a:r>
              <a:rPr lang="zh-CN" altLang="en-US" sz="2000" dirty="0" smtClean="0">
                <a:latin typeface="+mj-ea"/>
                <a:ea typeface="+mj-ea"/>
              </a:rPr>
              <a:t>年提出的，在这个算法中，谷歌让机器人充当语言模型的「手和眼睛」，而语言模型提供有关任务的高级语义知识。</a:t>
            </a:r>
            <a:endParaRPr lang="zh-CN" altLang="en-US" sz="2000" dirty="0" smtClean="0">
              <a:latin typeface="+mj-ea"/>
              <a:ea typeface="+mj-ea"/>
            </a:endParaRPr>
          </a:p>
          <a:p>
            <a:endParaRPr lang="en-US" altLang="zh-CN" sz="2000" dirty="0" smtClean="0">
              <a:latin typeface="+mj-ea"/>
              <a:ea typeface="+mj-ea"/>
            </a:endParaRPr>
          </a:p>
          <a:p>
            <a:r>
              <a:rPr lang="zh-CN" altLang="en-US" sz="2000" dirty="0" smtClean="0">
                <a:latin typeface="+mj-ea"/>
                <a:ea typeface="+mj-ea"/>
              </a:rPr>
              <a:t>该团队在两个真实的</a:t>
            </a:r>
            <a:r>
              <a:rPr lang="en-US" altLang="zh-CN" sz="2000" dirty="0" smtClean="0">
                <a:latin typeface="+mj-ea"/>
                <a:ea typeface="+mj-ea"/>
              </a:rPr>
              <a:t> Kitchen </a:t>
            </a:r>
            <a:r>
              <a:rPr lang="zh-CN" altLang="en-US" sz="2000" dirty="0" smtClean="0">
                <a:latin typeface="+mj-ea"/>
                <a:ea typeface="+mj-ea"/>
              </a:rPr>
              <a:t>中进行了评估，</a:t>
            </a:r>
            <a:r>
              <a:rPr lang="en-US" altLang="zh-CN" sz="2000" dirty="0" smtClean="0">
                <a:latin typeface="+mj-ea"/>
                <a:ea typeface="+mj-ea"/>
              </a:rPr>
              <a:t>Kitchen2 </a:t>
            </a:r>
            <a:r>
              <a:rPr lang="zh-CN" altLang="en-US" sz="2000" dirty="0" smtClean="0">
                <a:latin typeface="+mj-ea"/>
                <a:ea typeface="+mj-ea"/>
              </a:rPr>
              <a:t>构成了一个比</a:t>
            </a:r>
            <a:r>
              <a:rPr lang="en-US" altLang="zh-CN" sz="2000" dirty="0" smtClean="0">
                <a:latin typeface="+mj-ea"/>
                <a:ea typeface="+mj-ea"/>
              </a:rPr>
              <a:t> Kitchen1 </a:t>
            </a:r>
            <a:r>
              <a:rPr lang="zh-CN" altLang="en-US" sz="2000" dirty="0" smtClean="0">
                <a:latin typeface="+mj-ea"/>
                <a:ea typeface="+mj-ea"/>
              </a:rPr>
              <a:t>更具挑战性的泛化场景。由结果可得，</a:t>
            </a:r>
            <a:r>
              <a:rPr lang="en-US" altLang="zh-CN" sz="2000" dirty="0" smtClean="0">
                <a:latin typeface="+mj-ea"/>
                <a:ea typeface="+mj-ea"/>
              </a:rPr>
              <a:t>SayCan </a:t>
            </a:r>
            <a:r>
              <a:rPr lang="zh-CN" altLang="en-US" sz="2000" dirty="0" smtClean="0">
                <a:latin typeface="+mj-ea"/>
                <a:ea typeface="+mj-ea"/>
              </a:rPr>
              <a:t>与</a:t>
            </a:r>
            <a:r>
              <a:rPr lang="en-US" altLang="zh-CN" sz="2000" dirty="0" smtClean="0">
                <a:latin typeface="+mj-ea"/>
                <a:ea typeface="+mj-ea"/>
              </a:rPr>
              <a:t> RT-1 </a:t>
            </a:r>
            <a:r>
              <a:rPr lang="zh-CN" altLang="en-US" sz="2000" dirty="0" smtClean="0">
                <a:latin typeface="+mj-ea"/>
                <a:ea typeface="+mj-ea"/>
              </a:rPr>
              <a:t>在</a:t>
            </a:r>
            <a:r>
              <a:rPr lang="en-US" altLang="zh-CN" sz="2000" dirty="0" smtClean="0">
                <a:latin typeface="+mj-ea"/>
                <a:ea typeface="+mj-ea"/>
              </a:rPr>
              <a:t> Kitchen1 </a:t>
            </a:r>
            <a:r>
              <a:rPr lang="zh-CN" altLang="en-US" sz="2000" dirty="0" smtClean="0">
                <a:latin typeface="+mj-ea"/>
                <a:ea typeface="+mj-ea"/>
              </a:rPr>
              <a:t>中实现了</a:t>
            </a:r>
            <a:r>
              <a:rPr lang="en-US" altLang="zh-CN" sz="2000" dirty="0" smtClean="0">
                <a:latin typeface="+mj-ea"/>
                <a:ea typeface="+mj-ea"/>
              </a:rPr>
              <a:t> 67% </a:t>
            </a:r>
            <a:r>
              <a:rPr lang="zh-CN" altLang="en-US" sz="2000" dirty="0" smtClean="0">
                <a:latin typeface="+mj-ea"/>
                <a:ea typeface="+mj-ea"/>
              </a:rPr>
              <a:t>的执行成功率，优于其他基线。在</a:t>
            </a:r>
            <a:r>
              <a:rPr lang="en-US" altLang="zh-CN" sz="2000" dirty="0" smtClean="0">
                <a:latin typeface="+mj-ea"/>
                <a:ea typeface="+mj-ea"/>
              </a:rPr>
              <a:t> Kitchen2 </a:t>
            </a:r>
            <a:r>
              <a:rPr lang="zh-CN" altLang="en-US" sz="2000" dirty="0" smtClean="0">
                <a:latin typeface="+mj-ea"/>
                <a:ea typeface="+mj-ea"/>
              </a:rPr>
              <a:t>中，</a:t>
            </a:r>
            <a:r>
              <a:rPr lang="en-US" altLang="zh-CN" sz="2000" dirty="0" smtClean="0">
                <a:latin typeface="+mj-ea"/>
                <a:ea typeface="+mj-ea"/>
              </a:rPr>
              <a:t>SayCan </a:t>
            </a:r>
            <a:r>
              <a:rPr lang="zh-CN" altLang="en-US" sz="2000" dirty="0" smtClean="0">
                <a:latin typeface="+mj-ea"/>
                <a:ea typeface="+mj-ea"/>
              </a:rPr>
              <a:t>与</a:t>
            </a:r>
            <a:r>
              <a:rPr lang="en-US" altLang="zh-CN" sz="2000" dirty="0" smtClean="0">
                <a:latin typeface="+mj-ea"/>
                <a:ea typeface="+mj-ea"/>
              </a:rPr>
              <a:t> Gato </a:t>
            </a:r>
            <a:r>
              <a:rPr lang="zh-CN" altLang="en-US" sz="2000" dirty="0" smtClean="0">
                <a:latin typeface="+mj-ea"/>
                <a:ea typeface="+mj-ea"/>
              </a:rPr>
              <a:t>以及</a:t>
            </a:r>
            <a:r>
              <a:rPr lang="en-US" altLang="zh-CN" sz="2000" dirty="0" smtClean="0">
                <a:latin typeface="+mj-ea"/>
                <a:ea typeface="+mj-ea"/>
              </a:rPr>
              <a:t> SayCan </a:t>
            </a:r>
            <a:r>
              <a:rPr lang="zh-CN" altLang="en-US" sz="2000" dirty="0" smtClean="0">
                <a:latin typeface="+mj-ea"/>
                <a:ea typeface="+mj-ea"/>
              </a:rPr>
              <a:t>与</a:t>
            </a:r>
            <a:r>
              <a:rPr lang="en-US" altLang="zh-CN" sz="2000" dirty="0" smtClean="0">
                <a:latin typeface="+mj-ea"/>
                <a:ea typeface="+mj-ea"/>
              </a:rPr>
              <a:t> BCZ </a:t>
            </a:r>
            <a:r>
              <a:rPr lang="zh-CN" altLang="en-US" sz="2000" dirty="0" smtClean="0">
                <a:latin typeface="+mj-ea"/>
                <a:ea typeface="+mj-ea"/>
              </a:rPr>
              <a:t>的性能下降，而</a:t>
            </a:r>
            <a:r>
              <a:rPr lang="en-US" altLang="zh-CN" sz="2000" dirty="0" smtClean="0">
                <a:latin typeface="+mj-ea"/>
                <a:ea typeface="+mj-ea"/>
              </a:rPr>
              <a:t> RT-1 </a:t>
            </a:r>
            <a:r>
              <a:rPr lang="zh-CN" altLang="en-US" sz="2000" dirty="0" smtClean="0">
                <a:latin typeface="+mj-ea"/>
                <a:ea typeface="+mj-ea"/>
              </a:rPr>
              <a:t>没有出现明显的下降</a:t>
            </a:r>
            <a:endParaRPr lang="zh-CN" altLang="en-US" sz="2000" dirty="0" smtClean="0">
              <a:latin typeface="+mj-ea"/>
              <a:ea typeface="+mj-ea"/>
            </a:endParaRPr>
          </a:p>
          <a:p>
            <a:endParaRPr lang="zh-CN" altLang="en-US" sz="2000" dirty="0" smtClean="0">
              <a:latin typeface="+mj-ea"/>
              <a:ea typeface="+mj-ea"/>
            </a:endParaRPr>
          </a:p>
        </p:txBody>
      </p:sp>
      <p:pic>
        <p:nvPicPr>
          <p:cNvPr id="4" name="图片 3"/>
          <p:cNvPicPr/>
          <p:nvPr/>
        </p:nvPicPr>
        <p:blipFill>
          <a:blip r:embed="rId1"/>
          <a:stretch>
            <a:fillRect/>
          </a:stretch>
        </p:blipFill>
        <p:spPr>
          <a:xfrm>
            <a:off x="938848" y="4015423"/>
            <a:ext cx="8067674" cy="252412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0" name="流程图: 离页连接符 29"/>
          <p:cNvSpPr/>
          <p:nvPr/>
        </p:nvSpPr>
        <p:spPr>
          <a:xfrm>
            <a:off x="2079666" y="1931648"/>
            <a:ext cx="1692234" cy="1773054"/>
          </a:xfrm>
          <a:prstGeom prst="flowChartOffpage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96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2</a:t>
            </a:r>
            <a:endParaRPr kumimoji="0" lang="zh-CN" altLang="en-US" sz="96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31" name="直接连接符 30"/>
          <p:cNvCxnSpPr/>
          <p:nvPr/>
        </p:nvCxnSpPr>
        <p:spPr>
          <a:xfrm>
            <a:off x="3975100" y="2781587"/>
            <a:ext cx="57531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4472126" y="1945742"/>
            <a:ext cx="5059680" cy="8299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480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sym typeface="+mn-ea"/>
              </a:rPr>
              <a:t>机器学习学习汇报</a:t>
            </a:r>
            <a:endParaRPr kumimoji="0" lang="zh-CN" altLang="en-US" sz="4800" b="1"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wipe(left)">
                                      <p:cBhvr>
                                        <p:cTn id="13" dur="500"/>
                                        <p:tgtEl>
                                          <p:spTgt spid="31"/>
                                        </p:tgtEl>
                                      </p:cBhvr>
                                    </p:animEffect>
                                  </p:childTnLst>
                                </p:cTn>
                              </p:par>
                            </p:childTnLst>
                          </p:cTn>
                        </p:par>
                        <p:par>
                          <p:cTn id="14" fill="hold">
                            <p:stCondLst>
                              <p:cond delay="1500"/>
                            </p:stCondLst>
                            <p:childTnLst>
                              <p:par>
                                <p:cTn id="15" presetID="22" presetClass="entr" presetSubtype="4" fill="hold" grpId="0" nodeType="after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down)">
                                      <p:cBhvr>
                                        <p:cTn id="1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1421372" y="2703273"/>
            <a:ext cx="4264838" cy="2527935"/>
          </a:xfrm>
          <a:prstGeom prst="rect">
            <a:avLst/>
          </a:prstGeom>
        </p:spPr>
        <p:txBody>
          <a:bodyPr wrap="square" lIns="91416" tIns="45708" rIns="91416" bIns="45708">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1.</a:t>
            </a:r>
            <a:r>
              <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pandas是一个强大的分析结构化数据的工具集</a:t>
            </a:r>
            <a:endPar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endParaRPr>
          </a:p>
          <a:p>
            <a:pPr marL="0" marR="0" lvl="0" indent="0" defTabSz="914400" rtl="0" eaLnBrk="1" fontAlgn="auto" latinLnBrk="0" hangingPunct="1">
              <a:lnSpc>
                <a:spcPct val="13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2.</a:t>
            </a:r>
            <a:r>
              <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用于数据挖掘和数据分析，同时也提供数据清洗功能。</a:t>
            </a:r>
            <a:endPar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endParaRPr>
          </a:p>
          <a:p>
            <a:pPr marL="0" marR="0" lvl="0" indent="0" defTabSz="914400" rtl="0" eaLnBrk="1" fontAlgn="auto" latinLnBrk="0" hangingPunct="1">
              <a:lnSpc>
                <a:spcPct val="130000"/>
              </a:lnSpc>
              <a:spcBef>
                <a:spcPts val="0"/>
              </a:spcBef>
              <a:spcAft>
                <a:spcPts val="0"/>
              </a:spcAft>
              <a:buClrTx/>
              <a:buSzTx/>
              <a:buFontTx/>
              <a:buNone/>
              <a:defRPr/>
            </a:pPr>
            <a:r>
              <a:rPr lang="en-US" altLang="zh-CN" dirty="0">
                <a:solidFill>
                  <a:prstClr val="black">
                    <a:lumMod val="65000"/>
                    <a:lumOff val="35000"/>
                  </a:prstClr>
                </a:solidFill>
                <a:latin typeface="微软雅黑" panose="020B0503020204020204" pitchFamily="34" charset="-122"/>
                <a:ea typeface="微软雅黑" panose="020B0503020204020204" pitchFamily="34" charset="-122"/>
              </a:rPr>
              <a:t>3.</a:t>
            </a:r>
            <a:r>
              <a:rPr lang="zh-CN" altLang="en-US" dirty="0">
                <a:solidFill>
                  <a:prstClr val="black">
                    <a:lumMod val="65000"/>
                    <a:lumOff val="35000"/>
                  </a:prstClr>
                </a:solidFill>
                <a:latin typeface="微软雅黑" panose="020B0503020204020204" pitchFamily="34" charset="-122"/>
                <a:ea typeface="微软雅黑" panose="020B0503020204020204" pitchFamily="34" charset="-122"/>
              </a:rPr>
              <a:t>常见的结构是Series</a:t>
            </a:r>
            <a:r>
              <a:rPr lang="en-US" altLang="zh-CN" dirty="0">
                <a:solidFill>
                  <a:prstClr val="black">
                    <a:lumMod val="65000"/>
                    <a:lumOff val="35000"/>
                  </a:prstClr>
                </a:solidFill>
                <a:latin typeface="微软雅黑" panose="020B0503020204020204" pitchFamily="34" charset="-122"/>
                <a:ea typeface="微软雅黑" panose="020B0503020204020204" pitchFamily="34" charset="-122"/>
              </a:rPr>
              <a:t>(</a:t>
            </a:r>
            <a:r>
              <a:rPr lang="zh-CN" altLang="en-US" dirty="0">
                <a:solidFill>
                  <a:prstClr val="black">
                    <a:lumMod val="65000"/>
                    <a:lumOff val="35000"/>
                  </a:prstClr>
                </a:solidFill>
                <a:latin typeface="微软雅黑" panose="020B0503020204020204" pitchFamily="34" charset="-122"/>
                <a:ea typeface="微软雅黑" panose="020B0503020204020204" pitchFamily="34" charset="-122"/>
              </a:rPr>
              <a:t>类似于一维数组</a:t>
            </a:r>
            <a:r>
              <a:rPr lang="en-US" altLang="zh-CN" dirty="0">
                <a:solidFill>
                  <a:prstClr val="black">
                    <a:lumMod val="65000"/>
                    <a:lumOff val="35000"/>
                  </a:prstClr>
                </a:solidFill>
                <a:latin typeface="微软雅黑" panose="020B0503020204020204" pitchFamily="34" charset="-122"/>
                <a:ea typeface="微软雅黑" panose="020B0503020204020204" pitchFamily="34" charset="-122"/>
              </a:rPr>
              <a:t>)</a:t>
            </a:r>
            <a:r>
              <a:rPr lang="zh-CN" altLang="en-US" dirty="0">
                <a:solidFill>
                  <a:prstClr val="black">
                    <a:lumMod val="65000"/>
                    <a:lumOff val="35000"/>
                  </a:prstClr>
                </a:solidFill>
                <a:latin typeface="微软雅黑" panose="020B0503020204020204" pitchFamily="34" charset="-122"/>
                <a:ea typeface="微软雅黑" panose="020B0503020204020204" pitchFamily="34" charset="-122"/>
              </a:rPr>
              <a:t>和DateFrame</a:t>
            </a:r>
            <a:r>
              <a:rPr lang="en-US" altLang="zh-CN" dirty="0">
                <a:solidFill>
                  <a:prstClr val="black">
                    <a:lumMod val="65000"/>
                    <a:lumOff val="35000"/>
                  </a:prstClr>
                </a:solidFill>
                <a:latin typeface="微软雅黑" panose="020B0503020204020204" pitchFamily="34" charset="-122"/>
                <a:ea typeface="微软雅黑" panose="020B0503020204020204" pitchFamily="34" charset="-122"/>
              </a:rPr>
              <a:t>(</a:t>
            </a:r>
            <a:r>
              <a:rPr lang="zh-CN" altLang="en-US" dirty="0">
                <a:solidFill>
                  <a:prstClr val="black">
                    <a:lumMod val="65000"/>
                    <a:lumOff val="35000"/>
                  </a:prstClr>
                </a:solidFill>
                <a:latin typeface="微软雅黑" panose="020B0503020204020204" pitchFamily="34" charset="-122"/>
                <a:ea typeface="微软雅黑" panose="020B0503020204020204" pitchFamily="34" charset="-122"/>
              </a:rPr>
              <a:t>类似于多维或表格数组</a:t>
            </a:r>
            <a:r>
              <a:rPr lang="en-US" altLang="zh-CN" dirty="0">
                <a:solidFill>
                  <a:prstClr val="black">
                    <a:lumMod val="65000"/>
                    <a:lumOff val="35000"/>
                  </a:prstClr>
                </a:solidFill>
                <a:latin typeface="微软雅黑" panose="020B0503020204020204" pitchFamily="34" charset="-122"/>
                <a:ea typeface="微软雅黑" panose="020B0503020204020204" pitchFamily="34" charset="-122"/>
              </a:rPr>
              <a:t>)</a:t>
            </a:r>
            <a:endParaRPr lang="zh-CN" altLang="en-US" dirty="0">
              <a:solidFill>
                <a:prstClr val="black">
                  <a:lumMod val="65000"/>
                  <a:lumOff val="35000"/>
                </a:prstClr>
              </a:solidFill>
              <a:latin typeface="微软雅黑" panose="020B0503020204020204" pitchFamily="34" charset="-122"/>
              <a:ea typeface="微软雅黑" panose="020B0503020204020204" pitchFamily="34" charset="-122"/>
            </a:endParaRPr>
          </a:p>
          <a:p>
            <a:pPr marL="0" marR="0" lvl="0" indent="0" defTabSz="914400" rtl="0" eaLnBrk="1" fontAlgn="auto" latinLnBrk="0" hangingPunct="1">
              <a:lnSpc>
                <a:spcPct val="130000"/>
              </a:lnSpc>
              <a:spcBef>
                <a:spcPts val="0"/>
              </a:spcBef>
              <a:spcAft>
                <a:spcPts val="0"/>
              </a:spcAft>
              <a:buClrTx/>
              <a:buSzTx/>
              <a:buFontTx/>
              <a:buNone/>
              <a:defRPr/>
            </a:pP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cxnSp>
        <p:nvCxnSpPr>
          <p:cNvPr id="33" name="直接连接符 15"/>
          <p:cNvCxnSpPr/>
          <p:nvPr/>
        </p:nvCxnSpPr>
        <p:spPr>
          <a:xfrm flipH="1">
            <a:off x="6072209" y="2063716"/>
            <a:ext cx="8964" cy="3932234"/>
          </a:xfrm>
          <a:prstGeom prst="line">
            <a:avLst/>
          </a:prstGeom>
          <a:ln w="25400">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nvGrpSpPr>
          <p:cNvPr id="35" name="组合 4"/>
          <p:cNvGrpSpPr/>
          <p:nvPr/>
        </p:nvGrpSpPr>
        <p:grpSpPr>
          <a:xfrm>
            <a:off x="1421372" y="1329925"/>
            <a:ext cx="9349256" cy="1078846"/>
            <a:chOff x="-470146" y="1321180"/>
            <a:chExt cx="10012283" cy="1155354"/>
          </a:xfrm>
        </p:grpSpPr>
        <p:sp>
          <p:nvSpPr>
            <p:cNvPr id="36" name="椭圆 35"/>
            <p:cNvSpPr/>
            <p:nvPr/>
          </p:nvSpPr>
          <p:spPr>
            <a:xfrm>
              <a:off x="3944942" y="1321180"/>
              <a:ext cx="1182108" cy="1155354"/>
            </a:xfrm>
            <a:prstGeom prst="ellipse">
              <a:avLst/>
            </a:prstGeom>
            <a:solidFill>
              <a:srgbClr val="F2F2F2"/>
            </a:solidFill>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800" b="1" dirty="0">
                  <a:solidFill>
                    <a:prstClr val="black">
                      <a:lumMod val="75000"/>
                      <a:lumOff val="25000"/>
                    </a:prstClr>
                  </a:solidFill>
                  <a:latin typeface="微软雅黑" panose="020B0503020204020204" pitchFamily="34" charset="-122"/>
                  <a:ea typeface="微软雅黑" panose="020B0503020204020204" pitchFamily="34" charset="-122"/>
                  <a:cs typeface="微软雅黑" panose="020B0503020204020204" pitchFamily="34" charset="-122"/>
                </a:rPr>
                <a:t>+</a:t>
              </a:r>
              <a:endParaRPr kumimoji="0" lang="zh-CN" altLang="en-US" sz="48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 name="矩形 36"/>
            <p:cNvSpPr/>
            <p:nvPr/>
          </p:nvSpPr>
          <p:spPr>
            <a:xfrm>
              <a:off x="-470146" y="1583071"/>
              <a:ext cx="4178049" cy="646331"/>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pandas</a:t>
              </a:r>
              <a:endParaRPr kumimoji="0" lang="en-US" altLang="zh-CN"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矩形 48"/>
            <p:cNvSpPr/>
            <p:nvPr/>
          </p:nvSpPr>
          <p:spPr>
            <a:xfrm>
              <a:off x="5364088" y="1583071"/>
              <a:ext cx="4178049" cy="667521"/>
            </a:xfrm>
            <a:prstGeom prst="rect">
              <a:avLst/>
            </a:prstGeom>
            <a:solidFill>
              <a:schemeClr val="accent1"/>
            </a:solidFill>
            <a:ln>
              <a:noFill/>
            </a:ln>
          </p:spPr>
          <p:style>
            <a:lnRef idx="0">
              <a:schemeClr val="accent2"/>
            </a:lnRef>
            <a:fillRef idx="3">
              <a:schemeClr val="accent2"/>
            </a:fillRef>
            <a:effectRef idx="3">
              <a:schemeClr val="accent2"/>
            </a:effectRef>
            <a:fontRef idx="minor">
              <a:schemeClr val="lt1"/>
            </a:fontRef>
          </p:style>
          <p:txBody>
            <a:bodyPr wrap="square"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numpy</a:t>
              </a:r>
              <a:endParaRPr kumimoji="0" lang="en-US" altLang="zh-CN"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58" name="矩形 57"/>
          <p:cNvSpPr/>
          <p:nvPr/>
        </p:nvSpPr>
        <p:spPr>
          <a:xfrm>
            <a:off x="6892437" y="2703273"/>
            <a:ext cx="3901373" cy="4406265"/>
          </a:xfrm>
          <a:prstGeom prst="rect">
            <a:avLst/>
          </a:prstGeom>
        </p:spPr>
        <p:txBody>
          <a:bodyPr wrap="square" lIns="91416" tIns="45708" rIns="91416" bIns="45708">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1.</a:t>
            </a:r>
            <a:r>
              <a:rPr dirty="0">
                <a:solidFill>
                  <a:prstClr val="black">
                    <a:lumMod val="65000"/>
                    <a:lumOff val="35000"/>
                  </a:prstClr>
                </a:solidFill>
                <a:latin typeface="微软雅黑" panose="020B0503020204020204" pitchFamily="34" charset="-122"/>
                <a:ea typeface="微软雅黑" panose="020B0503020204020204" pitchFamily="34" charset="-122"/>
              </a:rPr>
              <a:t>Numpy是应用Python进行科学计算时的基础模块</a:t>
            </a:r>
            <a:r>
              <a:rPr lang="en-US" dirty="0">
                <a:solidFill>
                  <a:prstClr val="black">
                    <a:lumMod val="65000"/>
                    <a:lumOff val="35000"/>
                  </a:prstClr>
                </a:solidFill>
                <a:latin typeface="微软雅黑" panose="020B0503020204020204" pitchFamily="34" charset="-122"/>
                <a:ea typeface="微软雅黑" panose="020B0503020204020204" pitchFamily="34" charset="-122"/>
              </a:rPr>
              <a:t>,</a:t>
            </a:r>
            <a:r>
              <a:rPr lang="zh-CN" altLang="en-US" dirty="0">
                <a:solidFill>
                  <a:prstClr val="black">
                    <a:lumMod val="65000"/>
                    <a:lumOff val="35000"/>
                  </a:prstClr>
                </a:solidFill>
                <a:latin typeface="微软雅黑" panose="020B0503020204020204" pitchFamily="34" charset="-122"/>
                <a:ea typeface="微软雅黑" panose="020B0503020204020204" pitchFamily="34" charset="-122"/>
              </a:rPr>
              <a:t>是</a:t>
            </a:r>
            <a:r>
              <a:rPr lang="en-US" altLang="zh-CN" dirty="0">
                <a:solidFill>
                  <a:prstClr val="black">
                    <a:lumMod val="65000"/>
                    <a:lumOff val="35000"/>
                  </a:prstClr>
                </a:solidFill>
                <a:latin typeface="微软雅黑" panose="020B0503020204020204" pitchFamily="34" charset="-122"/>
                <a:ea typeface="微软雅黑" panose="020B0503020204020204" pitchFamily="34" charset="-122"/>
              </a:rPr>
              <a:t>pandas</a:t>
            </a:r>
            <a:r>
              <a:rPr lang="zh-CN" altLang="en-US" dirty="0">
                <a:solidFill>
                  <a:prstClr val="black">
                    <a:lumMod val="65000"/>
                    <a:lumOff val="35000"/>
                  </a:prstClr>
                </a:solidFill>
                <a:latin typeface="微软雅黑" panose="020B0503020204020204" pitchFamily="34" charset="-122"/>
                <a:ea typeface="微软雅黑" panose="020B0503020204020204" pitchFamily="34" charset="-122"/>
              </a:rPr>
              <a:t>库的基础</a:t>
            </a:r>
            <a:endParaRPr dirty="0">
              <a:solidFill>
                <a:prstClr val="black">
                  <a:lumMod val="65000"/>
                  <a:lumOff val="35000"/>
                </a:prstClr>
              </a:solidFill>
              <a:latin typeface="微软雅黑" panose="020B0503020204020204" pitchFamily="34" charset="-122"/>
              <a:ea typeface="微软雅黑" panose="020B0503020204020204" pitchFamily="34" charset="-122"/>
            </a:endParaRPr>
          </a:p>
          <a:p>
            <a:pPr marL="0" marR="0" lvl="0" indent="0" defTabSz="914400" rtl="0" eaLnBrk="1" fontAlgn="auto" latinLnBrk="0" hangingPunct="1">
              <a:lnSpc>
                <a:spcPct val="130000"/>
              </a:lnSpc>
              <a:spcBef>
                <a:spcPts val="0"/>
              </a:spcBef>
              <a:spcAft>
                <a:spcPts val="0"/>
              </a:spcAft>
              <a:buClrTx/>
              <a:buSzTx/>
              <a:buFontTx/>
              <a:buNone/>
              <a:defRPr/>
            </a:pPr>
            <a:r>
              <a:rPr lang="en-US" altLang="zh-CN" dirty="0">
                <a:solidFill>
                  <a:prstClr val="black">
                    <a:lumMod val="65000"/>
                    <a:lumOff val="35000"/>
                  </a:prstClr>
                </a:solidFill>
                <a:latin typeface="微软雅黑" panose="020B0503020204020204" pitchFamily="34" charset="-122"/>
                <a:ea typeface="微软雅黑" panose="020B0503020204020204" pitchFamily="34" charset="-122"/>
              </a:rPr>
              <a:t>2.</a:t>
            </a:r>
            <a:r>
              <a:rPr dirty="0">
                <a:solidFill>
                  <a:prstClr val="black">
                    <a:lumMod val="65000"/>
                    <a:lumOff val="35000"/>
                  </a:prstClr>
                </a:solidFill>
                <a:latin typeface="微软雅黑" panose="020B0503020204020204" pitchFamily="34" charset="-122"/>
              </a:rPr>
              <a:t>为快速计算数组而生的例程，包括数学运算，逻辑运算，形状操作，排序，选择，I/O，离散傅里叶变换，基本线性代数，基本统计运算，随机模拟</a:t>
            </a:r>
            <a:endParaRPr dirty="0">
              <a:solidFill>
                <a:prstClr val="black">
                  <a:lumMod val="65000"/>
                  <a:lumOff val="35000"/>
                </a:prstClr>
              </a:solidFill>
              <a:latin typeface="微软雅黑" panose="020B0503020204020204" pitchFamily="34" charset="-122"/>
            </a:endParaRPr>
          </a:p>
          <a:p>
            <a:pPr lvl="0">
              <a:lnSpc>
                <a:spcPct val="130000"/>
              </a:lnSpc>
              <a:defRPr/>
            </a:pP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a:t>
            </a:r>
            <a:r>
              <a:rPr kumimoji="0" b="0" i="0" u="none" strike="noStrike" cap="none" spc="0" normalizeH="0" baseline="0" dirty="0">
                <a:solidFill>
                  <a:prstClr val="black">
                    <a:lumMod val="65000"/>
                    <a:lumOff val="35000"/>
                  </a:prstClr>
                </a:solidFill>
                <a:latin typeface="微软雅黑" panose="020B0503020204020204" pitchFamily="34" charset="-122"/>
              </a:rPr>
              <a:t>Numpy库中最核心的部分ndarray 对象。它封装了同构数据类型的n维数组，它的功能将通过演示代码的形式呈现</a:t>
            </a:r>
            <a:endParaRPr kumimoji="0" lang="en-US" altLang="zh-CN" b="0" i="0" u="none" strike="noStrike" cap="none" spc="0" normalizeH="0" baseline="0" dirty="0">
              <a:solidFill>
                <a:prstClr val="black">
                  <a:lumMod val="65000"/>
                  <a:lumOff val="35000"/>
                </a:prstClr>
              </a:solidFill>
              <a:latin typeface="微软雅黑" panose="020B0503020204020204" pitchFamily="34" charset="-122"/>
              <a:ea typeface="微软雅黑" panose="020B0503020204020204" pitchFamily="34" charset="-122"/>
              <a:cs typeface="微软雅黑" panose="020B0503020204020204" pitchFamily="34" charset="-122"/>
            </a:endParaRPr>
          </a:p>
          <a:p>
            <a:pPr lvl="0">
              <a:lnSpc>
                <a:spcPct val="130000"/>
              </a:lnSpc>
              <a:defRPr/>
            </a:pP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文本框 38"/>
          <p:cNvSpPr txBox="1"/>
          <p:nvPr/>
        </p:nvSpPr>
        <p:spPr>
          <a:xfrm>
            <a:off x="1264217" y="351896"/>
            <a:ext cx="3027680" cy="5219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机器学习学习</a:t>
            </a:r>
            <a:r>
              <a:rPr kumimoji="0" lang="zh-CN" altLang="en-US"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汇报</a:t>
            </a:r>
            <a:endParaRPr kumimoji="0" lang="zh-CN" altLang="en-US"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500"/>
                                        <p:tgtEl>
                                          <p:spTgt spid="39"/>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barn(inVertical)">
                                      <p:cBhvr>
                                        <p:cTn id="11" dur="1500"/>
                                        <p:tgtEl>
                                          <p:spTgt spid="35"/>
                                        </p:tgtEl>
                                      </p:cBhvr>
                                    </p:animEffect>
                                  </p:childTnLst>
                                </p:cTn>
                              </p:par>
                            </p:childTnLst>
                          </p:cTn>
                        </p:par>
                        <p:par>
                          <p:cTn id="12" fill="hold">
                            <p:stCondLst>
                              <p:cond delay="2000"/>
                            </p:stCondLst>
                            <p:childTnLst>
                              <p:par>
                                <p:cTn id="13" presetID="22" presetClass="entr" presetSubtype="1"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up)">
                                      <p:cBhvr>
                                        <p:cTn id="15" dur="500"/>
                                        <p:tgtEl>
                                          <p:spTgt spid="33"/>
                                        </p:tgtEl>
                                      </p:cBhvr>
                                    </p:animEffect>
                                  </p:childTnLst>
                                </p:cTn>
                              </p:par>
                            </p:childTnLst>
                          </p:cTn>
                        </p:par>
                        <p:par>
                          <p:cTn id="16" fill="hold">
                            <p:stCondLst>
                              <p:cond delay="2500"/>
                            </p:stCondLst>
                            <p:childTnLst>
                              <p:par>
                                <p:cTn id="17" presetID="42" presetClass="entr" presetSubtype="0" fill="hold" grpId="0"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1000"/>
                                        <p:tgtEl>
                                          <p:spTgt spid="31"/>
                                        </p:tgtEl>
                                      </p:cBhvr>
                                    </p:animEffect>
                                    <p:anim calcmode="lin" valueType="num">
                                      <p:cBhvr>
                                        <p:cTn id="20" dur="1000" fill="hold"/>
                                        <p:tgtEl>
                                          <p:spTgt spid="31"/>
                                        </p:tgtEl>
                                        <p:attrNameLst>
                                          <p:attrName>ppt_x</p:attrName>
                                        </p:attrNameLst>
                                      </p:cBhvr>
                                      <p:tavLst>
                                        <p:tav tm="0">
                                          <p:val>
                                            <p:strVal val="#ppt_x"/>
                                          </p:val>
                                        </p:tav>
                                        <p:tav tm="100000">
                                          <p:val>
                                            <p:strVal val="#ppt_x"/>
                                          </p:val>
                                        </p:tav>
                                      </p:tavLst>
                                    </p:anim>
                                    <p:anim calcmode="lin" valueType="num">
                                      <p:cBhvr>
                                        <p:cTn id="21" dur="1000" fill="hold"/>
                                        <p:tgtEl>
                                          <p:spTgt spid="31"/>
                                        </p:tgtEl>
                                        <p:attrNameLst>
                                          <p:attrName>ppt_y</p:attrName>
                                        </p:attrNameLst>
                                      </p:cBhvr>
                                      <p:tavLst>
                                        <p:tav tm="0">
                                          <p:val>
                                            <p:strVal val="#ppt_y+.1"/>
                                          </p:val>
                                        </p:tav>
                                        <p:tav tm="100000">
                                          <p:val>
                                            <p:strVal val="#ppt_y"/>
                                          </p:val>
                                        </p:tav>
                                      </p:tavLst>
                                    </p:anim>
                                  </p:childTnLst>
                                </p:cTn>
                              </p:par>
                            </p:childTnLst>
                          </p:cTn>
                        </p:par>
                        <p:par>
                          <p:cTn id="22" fill="hold">
                            <p:stCondLst>
                              <p:cond delay="3500"/>
                            </p:stCondLst>
                            <p:childTnLst>
                              <p:par>
                                <p:cTn id="23" presetID="22" presetClass="entr" presetSubtype="8" fill="hold" grpId="0" nodeType="after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wipe(left)">
                                      <p:cBhvr>
                                        <p:cTn id="25"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58" grpId="0"/>
      <p:bldP spid="3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1421372" y="2703273"/>
            <a:ext cx="4264838" cy="3606800"/>
          </a:xfrm>
          <a:prstGeom prst="rect">
            <a:avLst/>
          </a:prstGeom>
        </p:spPr>
        <p:txBody>
          <a:bodyPr wrap="square" lIns="91416" tIns="45708" rIns="91416" bIns="45708">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1.</a:t>
            </a:r>
            <a:r>
              <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Scikit learn 也简称 sklearn, 是机器学习领域当中最知名的 python 模块之一.</a:t>
            </a:r>
            <a:endPar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endParaRPr>
          </a:p>
          <a:p>
            <a:pPr marL="0" marR="0" lvl="0" indent="0" defTabSz="914400" rtl="0" eaLnBrk="1" fontAlgn="auto" latinLnBrk="0" hangingPunct="1">
              <a:lnSpc>
                <a:spcPct val="13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2.</a:t>
            </a:r>
            <a:r>
              <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Sklearn 包含了很多种机器学习的方式</a:t>
            </a:r>
            <a:endPar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endParaRPr>
          </a:p>
          <a:p>
            <a:pPr marL="0" marR="0" lvl="0" indent="0" defTabSz="914400" rtl="0" eaLnBrk="1" fontAlgn="auto" latinLnBrk="0" hangingPunct="1">
              <a:lnSpc>
                <a:spcPct val="130000"/>
              </a:lnSpc>
              <a:spcBef>
                <a:spcPts val="0"/>
              </a:spcBef>
              <a:spcAft>
                <a:spcPts val="0"/>
              </a:spcAft>
              <a:buClrTx/>
              <a:buSzTx/>
              <a:buFontTx/>
              <a:buNone/>
              <a:defRPr/>
            </a:pPr>
            <a:r>
              <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Classification 分类</a:t>
            </a:r>
            <a:endPar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endParaRPr>
          </a:p>
          <a:p>
            <a:pPr marL="0" marR="0" lvl="0" indent="0" defTabSz="914400" rtl="0" eaLnBrk="1" fontAlgn="auto" latinLnBrk="0" hangingPunct="1">
              <a:lnSpc>
                <a:spcPct val="130000"/>
              </a:lnSpc>
              <a:spcBef>
                <a:spcPts val="0"/>
              </a:spcBef>
              <a:spcAft>
                <a:spcPts val="0"/>
              </a:spcAft>
              <a:buClrTx/>
              <a:buSzTx/>
              <a:buFontTx/>
              <a:buNone/>
              <a:defRPr/>
            </a:pPr>
            <a:r>
              <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Regression 回归</a:t>
            </a:r>
            <a:endPar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endParaRPr>
          </a:p>
          <a:p>
            <a:pPr marL="0" marR="0" lvl="0" indent="0" defTabSz="914400" rtl="0" eaLnBrk="1" fontAlgn="auto" latinLnBrk="0" hangingPunct="1">
              <a:lnSpc>
                <a:spcPct val="130000"/>
              </a:lnSpc>
              <a:spcBef>
                <a:spcPts val="0"/>
              </a:spcBef>
              <a:spcAft>
                <a:spcPts val="0"/>
              </a:spcAft>
              <a:buClrTx/>
              <a:buSzTx/>
              <a:buFontTx/>
              <a:buNone/>
              <a:defRPr/>
            </a:pPr>
            <a:r>
              <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Clustering 非监督分类</a:t>
            </a:r>
            <a:endPar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endParaRPr>
          </a:p>
          <a:p>
            <a:pPr marL="0" marR="0" lvl="0" indent="0" defTabSz="914400" rtl="0" eaLnBrk="1" fontAlgn="auto" latinLnBrk="0" hangingPunct="1">
              <a:lnSpc>
                <a:spcPct val="130000"/>
              </a:lnSpc>
              <a:spcBef>
                <a:spcPts val="0"/>
              </a:spcBef>
              <a:spcAft>
                <a:spcPts val="0"/>
              </a:spcAft>
              <a:buClrTx/>
              <a:buSzTx/>
              <a:buFontTx/>
              <a:buNone/>
              <a:defRPr/>
            </a:pPr>
            <a:r>
              <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Dimensionality reduction 数据降维</a:t>
            </a:r>
            <a:endPar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endParaRPr>
          </a:p>
          <a:p>
            <a:pPr marL="0" marR="0" lvl="0" indent="0" defTabSz="914400" rtl="0" eaLnBrk="1" fontAlgn="auto" latinLnBrk="0" hangingPunct="1">
              <a:lnSpc>
                <a:spcPct val="130000"/>
              </a:lnSpc>
              <a:spcBef>
                <a:spcPts val="0"/>
              </a:spcBef>
              <a:spcAft>
                <a:spcPts val="0"/>
              </a:spcAft>
              <a:buClrTx/>
              <a:buSzTx/>
              <a:buFontTx/>
              <a:buNone/>
              <a:defRPr/>
            </a:pPr>
            <a:r>
              <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Model Selection 模型选择</a:t>
            </a:r>
            <a:endPar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endParaRPr>
          </a:p>
          <a:p>
            <a:pPr marL="0" marR="0" lvl="0" indent="0" defTabSz="914400" rtl="0" eaLnBrk="1" fontAlgn="auto" latinLnBrk="0" hangingPunct="1">
              <a:lnSpc>
                <a:spcPct val="130000"/>
              </a:lnSpc>
              <a:spcBef>
                <a:spcPts val="0"/>
              </a:spcBef>
              <a:spcAft>
                <a:spcPts val="0"/>
              </a:spcAft>
              <a:buClrTx/>
              <a:buSzTx/>
              <a:buFontTx/>
              <a:buNone/>
              <a:defRPr/>
            </a:pPr>
            <a:r>
              <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Preprocessing 数据预处理</a:t>
            </a:r>
            <a:endParaRPr kumimoji="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endParaRPr>
          </a:p>
          <a:p>
            <a:pPr marL="0" marR="0" lvl="0" indent="0" defTabSz="914400" rtl="0" eaLnBrk="1" fontAlgn="auto" latinLnBrk="0" hangingPunct="1">
              <a:lnSpc>
                <a:spcPct val="130000"/>
              </a:lnSpc>
              <a:spcBef>
                <a:spcPts val="0"/>
              </a:spcBef>
              <a:spcAft>
                <a:spcPts val="0"/>
              </a:spcAft>
              <a:buClrTx/>
              <a:buSzTx/>
              <a:buFontTx/>
              <a:buNone/>
              <a:defRPr/>
            </a:pP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cxnSp>
        <p:nvCxnSpPr>
          <p:cNvPr id="33" name="直接连接符 15"/>
          <p:cNvCxnSpPr/>
          <p:nvPr/>
        </p:nvCxnSpPr>
        <p:spPr>
          <a:xfrm flipH="1">
            <a:off x="6072209" y="2063716"/>
            <a:ext cx="8964" cy="3932234"/>
          </a:xfrm>
          <a:prstGeom prst="line">
            <a:avLst/>
          </a:prstGeom>
          <a:ln w="25400">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nvGrpSpPr>
          <p:cNvPr id="35" name="组合 4"/>
          <p:cNvGrpSpPr/>
          <p:nvPr/>
        </p:nvGrpSpPr>
        <p:grpSpPr>
          <a:xfrm>
            <a:off x="1421372" y="1329925"/>
            <a:ext cx="9349256" cy="1078846"/>
            <a:chOff x="-470146" y="1321180"/>
            <a:chExt cx="10012283" cy="1155354"/>
          </a:xfrm>
        </p:grpSpPr>
        <p:sp>
          <p:nvSpPr>
            <p:cNvPr id="36" name="椭圆 35"/>
            <p:cNvSpPr/>
            <p:nvPr/>
          </p:nvSpPr>
          <p:spPr>
            <a:xfrm>
              <a:off x="3944942" y="1321180"/>
              <a:ext cx="1182108" cy="1155354"/>
            </a:xfrm>
            <a:prstGeom prst="ellipse">
              <a:avLst/>
            </a:prstGeom>
            <a:solidFill>
              <a:srgbClr val="F2F2F2"/>
            </a:solidFill>
            <a:ln>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800" b="1" dirty="0">
                  <a:solidFill>
                    <a:prstClr val="black">
                      <a:lumMod val="75000"/>
                      <a:lumOff val="25000"/>
                    </a:prstClr>
                  </a:solidFill>
                  <a:latin typeface="微软雅黑" panose="020B0503020204020204" pitchFamily="34" charset="-122"/>
                  <a:ea typeface="微软雅黑" panose="020B0503020204020204" pitchFamily="34" charset="-122"/>
                  <a:cs typeface="微软雅黑" panose="020B0503020204020204" pitchFamily="34" charset="-122"/>
                </a:rPr>
                <a:t>+</a:t>
              </a:r>
              <a:endParaRPr kumimoji="0" lang="zh-CN" altLang="en-US" sz="48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 name="矩形 36"/>
            <p:cNvSpPr/>
            <p:nvPr/>
          </p:nvSpPr>
          <p:spPr>
            <a:xfrm>
              <a:off x="-470146" y="1583071"/>
              <a:ext cx="4178049" cy="646331"/>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wrap="square"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sklean</a:t>
              </a:r>
              <a:endParaRPr kumimoji="0" lang="en-US" altLang="zh-CN"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矩形 48"/>
            <p:cNvSpPr/>
            <p:nvPr/>
          </p:nvSpPr>
          <p:spPr>
            <a:xfrm>
              <a:off x="5364088" y="1583071"/>
              <a:ext cx="4178049" cy="667521"/>
            </a:xfrm>
            <a:prstGeom prst="rect">
              <a:avLst/>
            </a:prstGeom>
            <a:solidFill>
              <a:schemeClr val="accent1"/>
            </a:solidFill>
            <a:ln>
              <a:noFill/>
            </a:ln>
          </p:spPr>
          <p:style>
            <a:lnRef idx="0">
              <a:schemeClr val="accent2"/>
            </a:lnRef>
            <a:fillRef idx="3">
              <a:schemeClr val="accent2"/>
            </a:fillRef>
            <a:effectRef idx="3">
              <a:schemeClr val="accent2"/>
            </a:effectRef>
            <a:fontRef idx="minor">
              <a:schemeClr val="lt1"/>
            </a:fontRef>
          </p:style>
          <p:txBody>
            <a:bodyPr wrap="square"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SimpleImputer</a:t>
              </a:r>
              <a:endParaRPr kumimoji="0" lang="en-US" altLang="zh-CN"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58" name="矩形 57"/>
          <p:cNvSpPr/>
          <p:nvPr/>
        </p:nvSpPr>
        <p:spPr>
          <a:xfrm>
            <a:off x="6892437" y="2703273"/>
            <a:ext cx="3901373" cy="3686810"/>
          </a:xfrm>
          <a:prstGeom prst="rect">
            <a:avLst/>
          </a:prstGeom>
        </p:spPr>
        <p:txBody>
          <a:bodyPr wrap="square" lIns="91416" tIns="45708" rIns="91416" bIns="45708">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3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1.数据缺失值补全方法sklearn.impute.SimpleImputer</a:t>
            </a: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endParaRPr>
          </a:p>
          <a:p>
            <a:pPr marL="0" marR="0" lvl="0" indent="0" defTabSz="914400" rtl="0" eaLnBrk="1" fontAlgn="auto" latinLnBrk="0" hangingPunct="1">
              <a:lnSpc>
                <a:spcPct val="13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2.</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缺失值补充的方法一共有四种选择</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,分别是mean,median, most_frequent,以及constant，mean均值填充。median是中位</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数</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rPr>
              <a:t>，most_frequent是众数。constant则可以将空值填充为自定义的值，这就要涉及到后面一个参数了，也就是fill_value。</a:t>
            </a: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endParaRPr>
          </a:p>
        </p:txBody>
      </p:sp>
      <p:sp>
        <p:nvSpPr>
          <p:cNvPr id="39" name="文本框 38"/>
          <p:cNvSpPr txBox="1"/>
          <p:nvPr/>
        </p:nvSpPr>
        <p:spPr>
          <a:xfrm>
            <a:off x="1264217" y="351896"/>
            <a:ext cx="3027680" cy="5219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机器学习学习</a:t>
            </a:r>
            <a:r>
              <a:rPr kumimoji="0" lang="zh-CN" altLang="en-US"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汇报</a:t>
            </a:r>
            <a:endParaRPr kumimoji="0" lang="zh-CN" altLang="en-US"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500"/>
                                        <p:tgtEl>
                                          <p:spTgt spid="39"/>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barn(inVertical)">
                                      <p:cBhvr>
                                        <p:cTn id="11" dur="1500"/>
                                        <p:tgtEl>
                                          <p:spTgt spid="35"/>
                                        </p:tgtEl>
                                      </p:cBhvr>
                                    </p:animEffect>
                                  </p:childTnLst>
                                </p:cTn>
                              </p:par>
                            </p:childTnLst>
                          </p:cTn>
                        </p:par>
                        <p:par>
                          <p:cTn id="12" fill="hold">
                            <p:stCondLst>
                              <p:cond delay="2000"/>
                            </p:stCondLst>
                            <p:childTnLst>
                              <p:par>
                                <p:cTn id="13" presetID="22" presetClass="entr" presetSubtype="1"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up)">
                                      <p:cBhvr>
                                        <p:cTn id="15" dur="500"/>
                                        <p:tgtEl>
                                          <p:spTgt spid="33"/>
                                        </p:tgtEl>
                                      </p:cBhvr>
                                    </p:animEffect>
                                  </p:childTnLst>
                                </p:cTn>
                              </p:par>
                            </p:childTnLst>
                          </p:cTn>
                        </p:par>
                        <p:par>
                          <p:cTn id="16" fill="hold">
                            <p:stCondLst>
                              <p:cond delay="2500"/>
                            </p:stCondLst>
                            <p:childTnLst>
                              <p:par>
                                <p:cTn id="17" presetID="42" presetClass="entr" presetSubtype="0" fill="hold" grpId="0"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1000"/>
                                        <p:tgtEl>
                                          <p:spTgt spid="31"/>
                                        </p:tgtEl>
                                      </p:cBhvr>
                                    </p:animEffect>
                                    <p:anim calcmode="lin" valueType="num">
                                      <p:cBhvr>
                                        <p:cTn id="20" dur="1000" fill="hold"/>
                                        <p:tgtEl>
                                          <p:spTgt spid="31"/>
                                        </p:tgtEl>
                                        <p:attrNameLst>
                                          <p:attrName>ppt_x</p:attrName>
                                        </p:attrNameLst>
                                      </p:cBhvr>
                                      <p:tavLst>
                                        <p:tav tm="0">
                                          <p:val>
                                            <p:strVal val="#ppt_x"/>
                                          </p:val>
                                        </p:tav>
                                        <p:tav tm="100000">
                                          <p:val>
                                            <p:strVal val="#ppt_x"/>
                                          </p:val>
                                        </p:tav>
                                      </p:tavLst>
                                    </p:anim>
                                    <p:anim calcmode="lin" valueType="num">
                                      <p:cBhvr>
                                        <p:cTn id="21" dur="1000" fill="hold"/>
                                        <p:tgtEl>
                                          <p:spTgt spid="31"/>
                                        </p:tgtEl>
                                        <p:attrNameLst>
                                          <p:attrName>ppt_y</p:attrName>
                                        </p:attrNameLst>
                                      </p:cBhvr>
                                      <p:tavLst>
                                        <p:tav tm="0">
                                          <p:val>
                                            <p:strVal val="#ppt_y+.1"/>
                                          </p:val>
                                        </p:tav>
                                        <p:tav tm="100000">
                                          <p:val>
                                            <p:strVal val="#ppt_y"/>
                                          </p:val>
                                        </p:tav>
                                      </p:tavLst>
                                    </p:anim>
                                  </p:childTnLst>
                                </p:cTn>
                              </p:par>
                            </p:childTnLst>
                          </p:cTn>
                        </p:par>
                        <p:par>
                          <p:cTn id="22" fill="hold">
                            <p:stCondLst>
                              <p:cond delay="3500"/>
                            </p:stCondLst>
                            <p:childTnLst>
                              <p:par>
                                <p:cTn id="23" presetID="22" presetClass="entr" presetSubtype="8" fill="hold" grpId="0" nodeType="after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wipe(left)">
                                      <p:cBhvr>
                                        <p:cTn id="25"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58" grpId="0"/>
      <p:bldP spid="3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25"/>
          <p:cNvSpPr txBox="1"/>
          <p:nvPr/>
        </p:nvSpPr>
        <p:spPr>
          <a:xfrm>
            <a:off x="1365250" y="1868170"/>
            <a:ext cx="10678160" cy="4644390"/>
          </a:xfrm>
          <a:prstGeom prst="rect">
            <a:avLst/>
          </a:prstGeom>
          <a:noFill/>
          <a:ln>
            <a:noFill/>
          </a:ln>
        </p:spPr>
        <p:txBody>
          <a:bodyPr lIns="91413" tIns="45700" rIns="91413" bIns="45700" anchor="t" anchorCtr="0">
            <a:noAutofit/>
          </a:bodyPr>
          <a:lstStyle/>
          <a:p>
            <a:pPr lvl="0">
              <a:lnSpc>
                <a:spcPct val="120000"/>
              </a:lnSpc>
              <a:defRPr/>
            </a:pPr>
            <a:r>
              <a:rPr lang="zh-CN" altLang="en-US" dirty="0">
                <a:sym typeface="+mn-ea"/>
              </a:rPr>
              <a:t>机器学习</a:t>
            </a:r>
            <a:r>
              <a:rPr lang="en-US" altLang="zh-CN" dirty="0">
                <a:sym typeface="+mn-ea"/>
              </a:rPr>
              <a:t>100</a:t>
            </a:r>
            <a:r>
              <a:rPr lang="zh-CN" altLang="en-US" dirty="0">
                <a:sym typeface="+mn-ea"/>
              </a:rPr>
              <a:t>天第一天学习</a:t>
            </a:r>
            <a:r>
              <a:rPr lang="en-US" altLang="zh-CN" dirty="0">
                <a:sym typeface="+mn-ea"/>
              </a:rPr>
              <a:t>:</a:t>
            </a:r>
            <a:r>
              <a:rPr lang="zh-CN" altLang="en-US" dirty="0">
                <a:sym typeface="+mn-ea"/>
              </a:rPr>
              <a:t>练习了引入各种加载库</a:t>
            </a:r>
            <a:r>
              <a:rPr lang="en-US" altLang="zh-CN" dirty="0">
                <a:sym typeface="+mn-ea"/>
              </a:rPr>
              <a:t>,</a:t>
            </a:r>
            <a:r>
              <a:rPr lang="zh-CN" altLang="en-US" dirty="0">
                <a:sym typeface="+mn-ea"/>
              </a:rPr>
              <a:t>如</a:t>
            </a:r>
            <a:r>
              <a:rPr lang="en-US" altLang="zh-CN" dirty="0">
                <a:sym typeface="+mn-ea"/>
              </a:rPr>
              <a:t>pandas,numpy,sklean</a:t>
            </a:r>
            <a:r>
              <a:rPr lang="zh-CN" altLang="en-US" dirty="0">
                <a:sym typeface="+mn-ea"/>
              </a:rPr>
              <a:t>。</a:t>
            </a:r>
            <a:r>
              <a:rPr lang="zh-CN" altLang="en-US" dirty="0">
                <a:sym typeface="+mn-ea"/>
              </a:rPr>
              <a:t>其中使用</a:t>
            </a:r>
            <a:r>
              <a:rPr lang="en-US" altLang="zh-CN" dirty="0">
                <a:sym typeface="+mn-ea"/>
              </a:rPr>
              <a:t>sklean</a:t>
            </a:r>
            <a:r>
              <a:rPr lang="zh-CN" altLang="en-US" dirty="0">
                <a:sym typeface="+mn-ea"/>
              </a:rPr>
              <a:t>中的</a:t>
            </a:r>
            <a:r>
              <a:rPr lang="en-US" altLang="zh-CN" dirty="0">
                <a:sym typeface="+mn-ea"/>
              </a:rPr>
              <a:t>SimpleImputer</a:t>
            </a:r>
            <a:r>
              <a:rPr lang="zh-CN" altLang="en-US" dirty="0">
                <a:sym typeface="+mn-ea"/>
              </a:rPr>
              <a:t>方法来处理导入的数据的缺失问题</a:t>
            </a:r>
            <a:r>
              <a:rPr lang="zh-CN" altLang="en-US" dirty="0">
                <a:sym typeface="+mn-ea"/>
              </a:rPr>
              <a:t>。</a:t>
            </a:r>
            <a:endParaRPr lang="zh-CN" altLang="en-US" dirty="0">
              <a:sym typeface="+mn-ea"/>
            </a:endParaRPr>
          </a:p>
          <a:p>
            <a:pPr lvl="0">
              <a:lnSpc>
                <a:spcPct val="120000"/>
              </a:lnSpc>
              <a:defRPr/>
            </a:pPr>
            <a:r>
              <a:rPr lang="zh-CN" altLang="en-US" dirty="0">
                <a:sym typeface="+mn-ea"/>
              </a:rPr>
              <a:t>具体的代码实例如下</a:t>
            </a:r>
            <a:r>
              <a:rPr lang="en-US" altLang="zh-CN" dirty="0">
                <a:sym typeface="+mn-ea"/>
              </a:rPr>
              <a:t>:</a:t>
            </a:r>
            <a:br>
              <a:rPr lang="en-US" altLang="zh-CN" dirty="0">
                <a:sym typeface="+mn-ea"/>
              </a:rPr>
            </a:br>
            <a:r>
              <a:rPr lang="en-US" altLang="zh-CN" dirty="0">
                <a:sym typeface="+mn-ea"/>
              </a:rPr>
              <a:t>1.</a:t>
            </a:r>
            <a:r>
              <a:rPr lang="zh-CN" altLang="en-US" dirty="0">
                <a:sym typeface="+mn-ea"/>
              </a:rPr>
              <a:t>使用</a:t>
            </a:r>
            <a:r>
              <a:rPr lang="en-US" altLang="zh-CN" dirty="0">
                <a:sym typeface="+mn-ea"/>
              </a:rPr>
              <a:t>constant</a:t>
            </a:r>
            <a:r>
              <a:rPr lang="zh-CN" altLang="en-US" dirty="0">
                <a:sym typeface="+mn-ea"/>
              </a:rPr>
              <a:t>参数来自定义填充参数</a:t>
            </a:r>
            <a:r>
              <a:rPr lang="en-US" altLang="zh-CN" dirty="0">
                <a:sym typeface="+mn-ea"/>
              </a:rPr>
              <a:t>,</a:t>
            </a:r>
            <a:r>
              <a:rPr lang="zh-CN" altLang="en-US" dirty="0">
                <a:sym typeface="+mn-ea"/>
              </a:rPr>
              <a:t>自定义的数值为</a:t>
            </a:r>
            <a:r>
              <a:rPr lang="en-US" altLang="zh-CN" dirty="0">
                <a:sym typeface="+mn-ea"/>
              </a:rPr>
              <a:t>:1           </a:t>
            </a:r>
            <a:r>
              <a:rPr lang="zh-CN" altLang="en-US" dirty="0">
                <a:sym typeface="+mn-ea"/>
              </a:rPr>
              <a:t>数据空缺填充的结果</a:t>
            </a:r>
            <a:r>
              <a:rPr lang="en-US" altLang="zh-CN" dirty="0">
                <a:sym typeface="+mn-ea"/>
              </a:rPr>
              <a:t>:      </a:t>
            </a:r>
            <a:endParaRPr lang="zh-CN" altLang="en-US" dirty="0">
              <a:sym typeface="+mn-ea"/>
            </a:endParaRPr>
          </a:p>
          <a:p>
            <a:pPr lvl="0">
              <a:lnSpc>
                <a:spcPct val="120000"/>
              </a:lnSpc>
              <a:defRPr/>
            </a:pPr>
            <a:endParaRPr lang="en-US" altLang="zh-CN" dirty="0">
              <a:sym typeface="+mn-ea"/>
            </a:endParaRPr>
          </a:p>
          <a:p>
            <a:pPr lvl="0">
              <a:lnSpc>
                <a:spcPct val="120000"/>
              </a:lnSpc>
              <a:defRPr/>
            </a:pPr>
            <a:r>
              <a:rPr lang="en-US" altLang="zh-CN" dirty="0">
                <a:sym typeface="+mn-ea"/>
              </a:rPr>
              <a:t>    </a:t>
            </a:r>
            <a:endParaRPr lang="zh-CN" altLang="en-US" dirty="0">
              <a:sym typeface="+mn-ea"/>
            </a:endParaRPr>
          </a:p>
          <a:p>
            <a:pPr lvl="0">
              <a:lnSpc>
                <a:spcPct val="120000"/>
              </a:lnSpc>
              <a:defRPr/>
            </a:pPr>
            <a:endParaRPr lang="zh-CN" altLang="en-US" dirty="0">
              <a:sym typeface="+mn-ea"/>
            </a:endParaRPr>
          </a:p>
          <a:p>
            <a:pPr lvl="0">
              <a:lnSpc>
                <a:spcPct val="120000"/>
              </a:lnSpc>
              <a:defRPr/>
            </a:pP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endPar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22" name="文本框 21"/>
          <p:cNvSpPr txBox="1"/>
          <p:nvPr/>
        </p:nvSpPr>
        <p:spPr>
          <a:xfrm>
            <a:off x="1264217" y="351896"/>
            <a:ext cx="3027680" cy="5219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机器学习学习</a:t>
            </a:r>
            <a:r>
              <a:rPr kumimoji="0" lang="zh-CN" altLang="en-US"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汇报</a:t>
            </a:r>
            <a:endParaRPr kumimoji="0" lang="zh-CN" altLang="en-US"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2" name="图片 1"/>
          <p:cNvPicPr>
            <a:picLocks noChangeAspect="1"/>
          </p:cNvPicPr>
          <p:nvPr>
            <p:custDataLst>
              <p:tags r:id="rId1"/>
            </p:custDataLst>
          </p:nvPr>
        </p:nvPicPr>
        <p:blipFill>
          <a:blip r:embed="rId2"/>
          <a:stretch>
            <a:fillRect/>
          </a:stretch>
        </p:blipFill>
        <p:spPr>
          <a:xfrm>
            <a:off x="1454150" y="3317875"/>
            <a:ext cx="6179820" cy="2514600"/>
          </a:xfrm>
          <a:prstGeom prst="rect">
            <a:avLst/>
          </a:prstGeom>
        </p:spPr>
      </p:pic>
      <p:pic>
        <p:nvPicPr>
          <p:cNvPr id="3" name="图片 2"/>
          <p:cNvPicPr>
            <a:picLocks noChangeAspect="1"/>
          </p:cNvPicPr>
          <p:nvPr/>
        </p:nvPicPr>
        <p:blipFill>
          <a:blip r:embed="rId3"/>
          <a:stretch>
            <a:fillRect/>
          </a:stretch>
        </p:blipFill>
        <p:spPr>
          <a:xfrm>
            <a:off x="7844155" y="3317875"/>
            <a:ext cx="3055620" cy="251523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p:stCondLst>
                              <p:cond delay="500"/>
                            </p:stCondLst>
                            <p:childTnLst>
                              <p:par>
                                <p:cTn id="9" presetID="53" presetClass="entr" presetSubtype="16" fill="hold" grpId="0" nodeType="afterEffect">
                                  <p:stCondLst>
                                    <p:cond delay="0"/>
                                  </p:stCondLst>
                                  <p:iterate type="lt">
                                    <p:tmPct val="5000"/>
                                  </p:iterate>
                                  <p:childTnLst>
                                    <p:set>
                                      <p:cBhvr>
                                        <p:cTn id="10" dur="1" fill="hold">
                                          <p:stCondLst>
                                            <p:cond delay="0"/>
                                          </p:stCondLst>
                                        </p:cTn>
                                        <p:tgtEl>
                                          <p:spTgt spid="38"/>
                                        </p:tgtEl>
                                        <p:attrNameLst>
                                          <p:attrName>style.visibility</p:attrName>
                                        </p:attrNameLst>
                                      </p:cBhvr>
                                      <p:to>
                                        <p:strVal val="visible"/>
                                      </p:to>
                                    </p:set>
                                    <p:anim calcmode="lin" valueType="num">
                                      <p:cBhvr>
                                        <p:cTn id="11" dur="500" fill="hold"/>
                                        <p:tgtEl>
                                          <p:spTgt spid="38"/>
                                        </p:tgtEl>
                                        <p:attrNameLst>
                                          <p:attrName>ppt_w</p:attrName>
                                        </p:attrNameLst>
                                      </p:cBhvr>
                                      <p:tavLst>
                                        <p:tav tm="0">
                                          <p:val>
                                            <p:fltVal val="0"/>
                                          </p:val>
                                        </p:tav>
                                        <p:tav tm="100000">
                                          <p:val>
                                            <p:strVal val="#ppt_w"/>
                                          </p:val>
                                        </p:tav>
                                      </p:tavLst>
                                    </p:anim>
                                    <p:anim calcmode="lin" valueType="num">
                                      <p:cBhvr>
                                        <p:cTn id="12" dur="500" fill="hold"/>
                                        <p:tgtEl>
                                          <p:spTgt spid="38"/>
                                        </p:tgtEl>
                                        <p:attrNameLst>
                                          <p:attrName>ppt_h</p:attrName>
                                        </p:attrNameLst>
                                      </p:cBhvr>
                                      <p:tavLst>
                                        <p:tav tm="0">
                                          <p:val>
                                            <p:fltVal val="0"/>
                                          </p:val>
                                        </p:tav>
                                        <p:tav tm="100000">
                                          <p:val>
                                            <p:strVal val="#ppt_h"/>
                                          </p:val>
                                        </p:tav>
                                      </p:tavLst>
                                    </p:anim>
                                    <p:animEffect transition="in" filter="fade">
                                      <p:cBhvr>
                                        <p:cTn id="1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25"/>
          <p:cNvSpPr txBox="1"/>
          <p:nvPr/>
        </p:nvSpPr>
        <p:spPr>
          <a:xfrm>
            <a:off x="1365250" y="1868268"/>
            <a:ext cx="9461500" cy="3995695"/>
          </a:xfrm>
          <a:prstGeom prst="rect">
            <a:avLst/>
          </a:prstGeom>
          <a:noFill/>
          <a:ln>
            <a:noFill/>
          </a:ln>
        </p:spPr>
        <p:txBody>
          <a:bodyPr lIns="91413" tIns="45700" rIns="91413" bIns="45700" anchor="t" anchorCtr="0">
            <a:noAutofit/>
          </a:bodyPr>
          <a:lstStyle/>
          <a:p>
            <a:pPr lvl="0">
              <a:lnSpc>
                <a:spcPct val="120000"/>
              </a:lnSpc>
              <a:defRPr/>
            </a:pP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2.</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使用均值的方式填充数据缺失值</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相关的参数</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:mean              </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数据缺失值填充结果</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t>
            </a: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   </a:t>
            </a: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22" name="文本框 21"/>
          <p:cNvSpPr txBox="1"/>
          <p:nvPr/>
        </p:nvSpPr>
        <p:spPr>
          <a:xfrm>
            <a:off x="1264217" y="351896"/>
            <a:ext cx="2672080" cy="5219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文章中心思想</a:t>
            </a:r>
            <a:r>
              <a:rPr kumimoji="0" lang="zh-CN" altLang="en-US"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句</a:t>
            </a:r>
            <a:endParaRPr kumimoji="0" lang="zh-CN" altLang="en-US"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1365250" y="2477770"/>
            <a:ext cx="5875020" cy="2012950"/>
          </a:xfrm>
          <a:prstGeom prst="rect">
            <a:avLst/>
          </a:prstGeom>
        </p:spPr>
      </p:pic>
      <p:pic>
        <p:nvPicPr>
          <p:cNvPr id="3" name="图片 2"/>
          <p:cNvPicPr>
            <a:picLocks noChangeAspect="1"/>
          </p:cNvPicPr>
          <p:nvPr/>
        </p:nvPicPr>
        <p:blipFill>
          <a:blip r:embed="rId2"/>
          <a:stretch>
            <a:fillRect/>
          </a:stretch>
        </p:blipFill>
        <p:spPr>
          <a:xfrm>
            <a:off x="7686675" y="2266950"/>
            <a:ext cx="3025140" cy="23241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p:stCondLst>
                              <p:cond delay="500"/>
                            </p:stCondLst>
                            <p:childTnLst>
                              <p:par>
                                <p:cTn id="9" presetID="53" presetClass="entr" presetSubtype="16" fill="hold" grpId="0" nodeType="afterEffect">
                                  <p:stCondLst>
                                    <p:cond delay="0"/>
                                  </p:stCondLst>
                                  <p:iterate type="lt">
                                    <p:tmPct val="5000"/>
                                  </p:iterate>
                                  <p:childTnLst>
                                    <p:set>
                                      <p:cBhvr>
                                        <p:cTn id="10" dur="1" fill="hold">
                                          <p:stCondLst>
                                            <p:cond delay="0"/>
                                          </p:stCondLst>
                                        </p:cTn>
                                        <p:tgtEl>
                                          <p:spTgt spid="38"/>
                                        </p:tgtEl>
                                        <p:attrNameLst>
                                          <p:attrName>style.visibility</p:attrName>
                                        </p:attrNameLst>
                                      </p:cBhvr>
                                      <p:to>
                                        <p:strVal val="visible"/>
                                      </p:to>
                                    </p:set>
                                    <p:anim calcmode="lin" valueType="num">
                                      <p:cBhvr>
                                        <p:cTn id="11" dur="500" fill="hold"/>
                                        <p:tgtEl>
                                          <p:spTgt spid="38"/>
                                        </p:tgtEl>
                                        <p:attrNameLst>
                                          <p:attrName>ppt_w</p:attrName>
                                        </p:attrNameLst>
                                      </p:cBhvr>
                                      <p:tavLst>
                                        <p:tav tm="0">
                                          <p:val>
                                            <p:fltVal val="0"/>
                                          </p:val>
                                        </p:tav>
                                        <p:tav tm="100000">
                                          <p:val>
                                            <p:strVal val="#ppt_w"/>
                                          </p:val>
                                        </p:tav>
                                      </p:tavLst>
                                    </p:anim>
                                    <p:anim calcmode="lin" valueType="num">
                                      <p:cBhvr>
                                        <p:cTn id="12" dur="500" fill="hold"/>
                                        <p:tgtEl>
                                          <p:spTgt spid="38"/>
                                        </p:tgtEl>
                                        <p:attrNameLst>
                                          <p:attrName>ppt_h</p:attrName>
                                        </p:attrNameLst>
                                      </p:cBhvr>
                                      <p:tavLst>
                                        <p:tav tm="0">
                                          <p:val>
                                            <p:fltVal val="0"/>
                                          </p:val>
                                        </p:tav>
                                        <p:tav tm="100000">
                                          <p:val>
                                            <p:strVal val="#ppt_h"/>
                                          </p:val>
                                        </p:tav>
                                      </p:tavLst>
                                    </p:anim>
                                    <p:animEffect transition="in" filter="fade">
                                      <p:cBhvr>
                                        <p:cTn id="1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25"/>
          <p:cNvSpPr txBox="1"/>
          <p:nvPr/>
        </p:nvSpPr>
        <p:spPr>
          <a:xfrm>
            <a:off x="1365250" y="1868170"/>
            <a:ext cx="9461500" cy="4563110"/>
          </a:xfrm>
          <a:prstGeom prst="rect">
            <a:avLst/>
          </a:prstGeom>
          <a:noFill/>
          <a:ln>
            <a:noFill/>
          </a:ln>
        </p:spPr>
        <p:txBody>
          <a:bodyPr lIns="91413" tIns="45700" rIns="91413" bIns="45700" anchor="t" anchorCtr="0">
            <a:noAutofit/>
          </a:bodyPr>
          <a:lstStyle/>
          <a:p>
            <a:pPr lvl="0">
              <a:lnSpc>
                <a:spcPct val="120000"/>
              </a:lnSpc>
              <a:defRPr/>
            </a:pP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学习机器学习的视频总结</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t>
            </a: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机器学习</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让机器像人具备学习的能力</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                                     </a:t>
            </a: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知识</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数据</a:t>
            </a:r>
            <a:endPar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算法</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公式</a:t>
            </a:r>
            <a:endPar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模型</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参数</a:t>
            </a:r>
            <a:endPar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预测</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把新的数据和参数进行计算的到</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结果</a:t>
            </a:r>
            <a:endPar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y=a*x+b(</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一次线性</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当然我们实际解决的问题一般都是多元的</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就是有多个</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x)</a:t>
            </a: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y1,x1</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和</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y2,x2</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可以作为数据</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求解出参数</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a,b</a:t>
            </a: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预测就是将新的</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x</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带入到公式里</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求得的</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y</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为预测</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结果</a:t>
            </a:r>
            <a:endPar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机器学习分为</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t>
            </a: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          </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有监督学习</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有</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y(</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回归</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 y</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的区间是正无穷到负无穷</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  </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分类</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 y</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是作为分类号</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t>
            </a: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          </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无监督学习</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无</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y(</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聚类</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 </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在没有</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y</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的情况下将数据分成一堆一堆的</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  </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降维</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 </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为了更快的解方程组</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 </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减少</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x</a:t>
            </a:r>
            <a:r>
              <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数量的算法</a:t>
            </a:r>
            <a:r>
              <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a:t>
            </a:r>
            <a:endPar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endParaRPr kumimoji="0" lang="en-US" altLang="zh-CN"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endParaRPr kumimoji="0" lang="zh-CN" altLang="en-US"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22" name="文本框 21"/>
          <p:cNvSpPr txBox="1"/>
          <p:nvPr/>
        </p:nvSpPr>
        <p:spPr>
          <a:xfrm>
            <a:off x="1264217" y="351896"/>
            <a:ext cx="3027680" cy="5219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机器学习学习</a:t>
            </a:r>
            <a:r>
              <a:rPr kumimoji="0" lang="zh-CN" altLang="en-US"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汇报</a:t>
            </a:r>
            <a:endParaRPr kumimoji="0" lang="zh-CN" altLang="en-US"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p:stCondLst>
                              <p:cond delay="500"/>
                            </p:stCondLst>
                            <p:childTnLst>
                              <p:par>
                                <p:cTn id="9" presetID="53" presetClass="entr" presetSubtype="16" fill="hold" grpId="0" nodeType="afterEffect">
                                  <p:stCondLst>
                                    <p:cond delay="0"/>
                                  </p:stCondLst>
                                  <p:iterate type="lt">
                                    <p:tmPct val="5000"/>
                                  </p:iterate>
                                  <p:childTnLst>
                                    <p:set>
                                      <p:cBhvr>
                                        <p:cTn id="10" dur="1" fill="hold">
                                          <p:stCondLst>
                                            <p:cond delay="0"/>
                                          </p:stCondLst>
                                        </p:cTn>
                                        <p:tgtEl>
                                          <p:spTgt spid="38"/>
                                        </p:tgtEl>
                                        <p:attrNameLst>
                                          <p:attrName>style.visibility</p:attrName>
                                        </p:attrNameLst>
                                      </p:cBhvr>
                                      <p:to>
                                        <p:strVal val="visible"/>
                                      </p:to>
                                    </p:set>
                                    <p:anim calcmode="lin" valueType="num">
                                      <p:cBhvr>
                                        <p:cTn id="11" dur="500" fill="hold"/>
                                        <p:tgtEl>
                                          <p:spTgt spid="38"/>
                                        </p:tgtEl>
                                        <p:attrNameLst>
                                          <p:attrName>ppt_w</p:attrName>
                                        </p:attrNameLst>
                                      </p:cBhvr>
                                      <p:tavLst>
                                        <p:tav tm="0">
                                          <p:val>
                                            <p:fltVal val="0"/>
                                          </p:val>
                                        </p:tav>
                                        <p:tav tm="100000">
                                          <p:val>
                                            <p:strVal val="#ppt_w"/>
                                          </p:val>
                                        </p:tav>
                                      </p:tavLst>
                                    </p:anim>
                                    <p:anim calcmode="lin" valueType="num">
                                      <p:cBhvr>
                                        <p:cTn id="12" dur="500" fill="hold"/>
                                        <p:tgtEl>
                                          <p:spTgt spid="38"/>
                                        </p:tgtEl>
                                        <p:attrNameLst>
                                          <p:attrName>ppt_h</p:attrName>
                                        </p:attrNameLst>
                                      </p:cBhvr>
                                      <p:tavLst>
                                        <p:tav tm="0">
                                          <p:val>
                                            <p:fltVal val="0"/>
                                          </p:val>
                                        </p:tav>
                                        <p:tav tm="100000">
                                          <p:val>
                                            <p:strVal val="#ppt_h"/>
                                          </p:val>
                                        </p:tav>
                                      </p:tavLst>
                                    </p:anim>
                                    <p:animEffect transition="in" filter="fade">
                                      <p:cBhvr>
                                        <p:cTn id="1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流程图: 离页连接符 29"/>
          <p:cNvSpPr/>
          <p:nvPr/>
        </p:nvSpPr>
        <p:spPr>
          <a:xfrm>
            <a:off x="2079666" y="1931648"/>
            <a:ext cx="1692234" cy="1773054"/>
          </a:xfrm>
          <a:prstGeom prst="flowChartOffpage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defRPr/>
            </a:pPr>
            <a:r>
              <a:rPr lang="en-US" altLang="zh-CN" sz="9600" b="1" dirty="0">
                <a:solidFill>
                  <a:prstClr val="white"/>
                </a:solidFill>
                <a:latin typeface="Arial" panose="020B0604020202020204"/>
                <a:ea typeface="微软雅黑" panose="020B0503020204020204" pitchFamily="34" charset="-122"/>
              </a:rPr>
              <a:t>3</a:t>
            </a:r>
            <a:endParaRPr kumimoji="0" lang="zh-CN" altLang="en-US" sz="96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31" name="直接连接符 30"/>
          <p:cNvCxnSpPr/>
          <p:nvPr/>
        </p:nvCxnSpPr>
        <p:spPr>
          <a:xfrm>
            <a:off x="3975100" y="2781587"/>
            <a:ext cx="57531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4472126" y="1945742"/>
            <a:ext cx="4450080" cy="156845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480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sym typeface="+mn-ea"/>
              </a:rPr>
              <a:t>下一周学习计划</a:t>
            </a:r>
            <a:endParaRPr kumimoji="0" lang="zh-CN" altLang="en-US" sz="48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4800" b="1"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wipe(left)">
                                      <p:cBhvr>
                                        <p:cTn id="13" dur="500"/>
                                        <p:tgtEl>
                                          <p:spTgt spid="31"/>
                                        </p:tgtEl>
                                      </p:cBhvr>
                                    </p:animEffect>
                                  </p:childTnLst>
                                </p:cTn>
                              </p:par>
                            </p:childTnLst>
                          </p:cTn>
                        </p:par>
                        <p:par>
                          <p:cTn id="14" fill="hold">
                            <p:stCondLst>
                              <p:cond delay="1500"/>
                            </p:stCondLst>
                            <p:childTnLst>
                              <p:par>
                                <p:cTn id="15" presetID="22" presetClass="entr" presetSubtype="4" fill="hold" grpId="0" nodeType="after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down)">
                                      <p:cBhvr>
                                        <p:cTn id="1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1264217" y="351896"/>
            <a:ext cx="2316480" cy="5219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下周学习</a:t>
            </a:r>
            <a:r>
              <a:rPr kumimoji="0" lang="zh-CN" altLang="en-US"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计划</a:t>
            </a:r>
            <a:endParaRPr kumimoji="0" lang="zh-CN" altLang="en-US" sz="2800" b="0" i="0" u="none" strike="noStrike" kern="1200" cap="none" spc="0" normalizeH="0" baseline="0" noProof="0" dirty="0">
              <a:ln>
                <a:noFill/>
              </a:ln>
              <a:solidFill>
                <a:srgbClr val="31437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流程图: 离页连接符 2"/>
          <p:cNvSpPr/>
          <p:nvPr/>
        </p:nvSpPr>
        <p:spPr>
          <a:xfrm>
            <a:off x="584835" y="1737360"/>
            <a:ext cx="617220" cy="527050"/>
          </a:xfrm>
          <a:prstGeom prst="flowChartOffpage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1</a:t>
            </a:r>
            <a:endParaRPr kumimoji="0" lang="zh-CN" altLang="en-US" sz="36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24" name="直接连接符 23"/>
          <p:cNvCxnSpPr/>
          <p:nvPr/>
        </p:nvCxnSpPr>
        <p:spPr>
          <a:xfrm flipV="1">
            <a:off x="1225550" y="2292350"/>
            <a:ext cx="8672195" cy="1016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360236" y="1722158"/>
            <a:ext cx="3613150" cy="5219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继续阅读</a:t>
            </a:r>
            <a:r>
              <a:rPr kumimoji="0" lang="en-US" altLang="zh-CN" sz="28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VlA</a:t>
            </a:r>
            <a:r>
              <a:rPr kumimoji="0" lang="zh-CN" altLang="en-US" sz="28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相关</a:t>
            </a:r>
            <a:r>
              <a:rPr kumimoji="0" lang="zh-CN" altLang="en-US" sz="28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rPr>
              <a:t>论文</a:t>
            </a:r>
            <a:endParaRPr kumimoji="0" lang="zh-CN" altLang="en-US" sz="28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mn-cs"/>
            </a:endParaRPr>
          </a:p>
        </p:txBody>
      </p:sp>
      <p:sp>
        <p:nvSpPr>
          <p:cNvPr id="2" name="流程图: 离页连接符 1"/>
          <p:cNvSpPr/>
          <p:nvPr/>
        </p:nvSpPr>
        <p:spPr>
          <a:xfrm>
            <a:off x="584835" y="2787650"/>
            <a:ext cx="617220" cy="527050"/>
          </a:xfrm>
          <a:prstGeom prst="flowChartOffpage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2</a:t>
            </a:r>
            <a:endParaRPr kumimoji="0" lang="zh-CN" altLang="en-US" sz="36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
        <p:nvSpPr>
          <p:cNvPr id="4" name="流程图: 离页连接符 3"/>
          <p:cNvSpPr/>
          <p:nvPr/>
        </p:nvSpPr>
        <p:spPr>
          <a:xfrm>
            <a:off x="584835" y="3903345"/>
            <a:ext cx="617220" cy="527050"/>
          </a:xfrm>
          <a:prstGeom prst="flowChartOffpageConnector">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rPr>
              <a:t>3</a:t>
            </a:r>
            <a:endParaRPr kumimoji="0" lang="zh-CN" altLang="en-US" sz="3600" b="1"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7" name="直接连接符 6"/>
          <p:cNvCxnSpPr/>
          <p:nvPr/>
        </p:nvCxnSpPr>
        <p:spPr>
          <a:xfrm flipV="1">
            <a:off x="1264285" y="3311525"/>
            <a:ext cx="8672195" cy="1016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1264285" y="4420235"/>
            <a:ext cx="8672195" cy="1016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264285" y="2642235"/>
            <a:ext cx="6096000" cy="521970"/>
          </a:xfrm>
          <a:prstGeom prst="rect">
            <a:avLst/>
          </a:prstGeom>
          <a:noFill/>
        </p:spPr>
        <p:txBody>
          <a:bodyPr wrap="square" rtlCol="0" anchor="t">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sym typeface="+mn-ea"/>
              </a:rPr>
              <a:t>学习部分回归算法和分类算法</a:t>
            </a:r>
            <a:endParaRPr lang="zh-CN" altLang="en-US" sz="2800" noProof="0" dirty="0" smtClean="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sym typeface="+mn-ea"/>
            </a:endParaRPr>
          </a:p>
        </p:txBody>
      </p:sp>
      <p:sp>
        <p:nvSpPr>
          <p:cNvPr id="15" name="文本框 14"/>
          <p:cNvSpPr txBox="1"/>
          <p:nvPr/>
        </p:nvSpPr>
        <p:spPr>
          <a:xfrm>
            <a:off x="1360170" y="3898265"/>
            <a:ext cx="6096000" cy="521970"/>
          </a:xfrm>
          <a:prstGeom prst="rect">
            <a:avLst/>
          </a:prstGeom>
          <a:noFill/>
        </p:spPr>
        <p:txBody>
          <a:bodyPr wrap="square" rtlCol="0" anchor="t">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noProof="0" dirty="0" smtClean="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sym typeface="+mn-ea"/>
              </a:rPr>
              <a:t>准备</a:t>
            </a:r>
            <a:r>
              <a:rPr lang="zh-CN" altLang="en-US" sz="2800" noProof="0" dirty="0" smtClean="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sym typeface="+mn-ea"/>
              </a:rPr>
              <a:t>考试</a:t>
            </a:r>
            <a:endParaRPr lang="zh-CN" altLang="en-US" sz="2800" noProof="0" dirty="0" smtClean="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left)">
                                      <p:cBhvr>
                                        <p:cTn id="16" dur="500"/>
                                        <p:tgtEl>
                                          <p:spTgt spid="24"/>
                                        </p:tgtEl>
                                      </p:cBhvr>
                                    </p:animEffect>
                                  </p:childTnLst>
                                </p:cTn>
                              </p:par>
                            </p:childTnLst>
                          </p:cTn>
                        </p:par>
                        <p:par>
                          <p:cTn id="17" fill="hold">
                            <p:stCondLst>
                              <p:cond delay="1500"/>
                            </p:stCondLst>
                            <p:childTnLst>
                              <p:par>
                                <p:cTn id="18" presetID="22" presetClass="entr" presetSubtype="4"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down)">
                                      <p:cBhvr>
                                        <p:cTn id="20" dur="500"/>
                                        <p:tgtEl>
                                          <p:spTgt spid="6"/>
                                        </p:tgtEl>
                                      </p:cBhvr>
                                    </p:animEffect>
                                  </p:childTnLst>
                                </p:cTn>
                              </p:par>
                            </p:childTnLst>
                          </p:cTn>
                        </p:par>
                        <p:par>
                          <p:cTn id="21" fill="hold">
                            <p:stCondLst>
                              <p:cond delay="2000"/>
                            </p:stCondLst>
                            <p:childTnLst>
                              <p:par>
                                <p:cTn id="22" presetID="2" presetClass="entr" presetSubtype="4" fill="hold" grpId="0"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ppt_x"/>
                                          </p:val>
                                        </p:tav>
                                        <p:tav tm="100000">
                                          <p:val>
                                            <p:strVal val="#ppt_x"/>
                                          </p:val>
                                        </p:tav>
                                      </p:tavLst>
                                    </p:anim>
                                    <p:anim calcmode="lin" valueType="num">
                                      <p:cBhvr additive="base">
                                        <p:cTn id="25" dur="500" fill="hold"/>
                                        <p:tgtEl>
                                          <p:spTgt spid="2"/>
                                        </p:tgtEl>
                                        <p:attrNameLst>
                                          <p:attrName>ppt_y</p:attrName>
                                        </p:attrNameLst>
                                      </p:cBhvr>
                                      <p:tavLst>
                                        <p:tav tm="0">
                                          <p:val>
                                            <p:strVal val="1+#ppt_h/2"/>
                                          </p:val>
                                        </p:tav>
                                        <p:tav tm="100000">
                                          <p:val>
                                            <p:strVal val="#ppt_y"/>
                                          </p:val>
                                        </p:tav>
                                      </p:tavLst>
                                    </p:anim>
                                  </p:childTnLst>
                                </p:cTn>
                              </p:par>
                            </p:childTnLst>
                          </p:cTn>
                        </p:par>
                        <p:par>
                          <p:cTn id="26" fill="hold">
                            <p:stCondLst>
                              <p:cond delay="2500"/>
                            </p:stCondLst>
                            <p:childTnLst>
                              <p:par>
                                <p:cTn id="27" presetID="2" presetClass="entr" presetSubtype="4" fill="hold" grpId="0" nodeType="after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par>
                          <p:cTn id="31" fill="hold">
                            <p:stCondLst>
                              <p:cond delay="3000"/>
                            </p:stCondLst>
                            <p:childTnLst>
                              <p:par>
                                <p:cTn id="32" presetID="22" presetClass="entr" presetSubtype="8" fill="hold"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500"/>
                                        <p:tgtEl>
                                          <p:spTgt spid="7"/>
                                        </p:tgtEl>
                                      </p:cBhvr>
                                    </p:animEffect>
                                  </p:childTnLst>
                                </p:cTn>
                              </p:par>
                            </p:childTnLst>
                          </p:cTn>
                        </p:par>
                        <p:par>
                          <p:cTn id="35" fill="hold">
                            <p:stCondLst>
                              <p:cond delay="3500"/>
                            </p:stCondLst>
                            <p:childTnLst>
                              <p:par>
                                <p:cTn id="36" presetID="22" presetClass="entr" presetSubtype="8" fill="hold" nodeType="after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wipe(left)">
                                      <p:cBhvr>
                                        <p:cTn id="3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 grpId="0" bldLvl="0" animBg="1"/>
      <p:bldP spid="6" grpId="0"/>
      <p:bldP spid="2" grpId="0" bldLvl="0" animBg="1"/>
      <p:bldP spid="4"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1907407" y="1156363"/>
            <a:ext cx="1529173" cy="2271132"/>
            <a:chOff x="2437632" y="1965988"/>
            <a:chExt cx="1529173" cy="2271132"/>
          </a:xfrm>
          <a:solidFill>
            <a:schemeClr val="accent1"/>
          </a:solidFill>
        </p:grpSpPr>
        <p:sp>
          <p:nvSpPr>
            <p:cNvPr id="7" name="Freeform 5"/>
            <p:cNvSpPr/>
            <p:nvPr/>
          </p:nvSpPr>
          <p:spPr bwMode="auto">
            <a:xfrm>
              <a:off x="3185996" y="1965988"/>
              <a:ext cx="780809" cy="732141"/>
            </a:xfrm>
            <a:custGeom>
              <a:avLst/>
              <a:gdLst>
                <a:gd name="T0" fmla="*/ 137 w 773"/>
                <a:gd name="T1" fmla="*/ 179 h 725"/>
                <a:gd name="T2" fmla="*/ 670 w 773"/>
                <a:gd name="T3" fmla="*/ 486 h 725"/>
                <a:gd name="T4" fmla="*/ 532 w 773"/>
                <a:gd name="T5" fmla="*/ 725 h 725"/>
                <a:gd name="T6" fmla="*/ 0 w 773"/>
                <a:gd name="T7" fmla="*/ 417 h 725"/>
                <a:gd name="T8" fmla="*/ 137 w 773"/>
                <a:gd name="T9" fmla="*/ 179 h 725"/>
              </a:gdLst>
              <a:ahLst/>
              <a:cxnLst>
                <a:cxn ang="0">
                  <a:pos x="T0" y="T1"/>
                </a:cxn>
                <a:cxn ang="0">
                  <a:pos x="T2" y="T3"/>
                </a:cxn>
                <a:cxn ang="0">
                  <a:pos x="T4" y="T5"/>
                </a:cxn>
                <a:cxn ang="0">
                  <a:pos x="T6" y="T7"/>
                </a:cxn>
                <a:cxn ang="0">
                  <a:pos x="T8" y="T9"/>
                </a:cxn>
              </a:cxnLst>
              <a:rect l="0" t="0" r="r" b="b"/>
              <a:pathLst>
                <a:path w="773" h="725">
                  <a:moveTo>
                    <a:pt x="137" y="179"/>
                  </a:moveTo>
                  <a:cubicBezTo>
                    <a:pt x="240" y="0"/>
                    <a:pt x="773" y="308"/>
                    <a:pt x="670" y="486"/>
                  </a:cubicBezTo>
                  <a:cubicBezTo>
                    <a:pt x="532" y="725"/>
                    <a:pt x="532" y="725"/>
                    <a:pt x="532" y="725"/>
                  </a:cubicBezTo>
                  <a:cubicBezTo>
                    <a:pt x="0" y="417"/>
                    <a:pt x="0" y="417"/>
                    <a:pt x="0" y="417"/>
                  </a:cubicBezTo>
                  <a:lnTo>
                    <a:pt x="137"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 name="Freeform 6"/>
            <p:cNvSpPr>
              <a:spLocks noEditPoints="1"/>
            </p:cNvSpPr>
            <p:nvPr/>
          </p:nvSpPr>
          <p:spPr bwMode="auto">
            <a:xfrm>
              <a:off x="2437632" y="2425337"/>
              <a:ext cx="1264491" cy="1743052"/>
            </a:xfrm>
            <a:custGeom>
              <a:avLst/>
              <a:gdLst>
                <a:gd name="T0" fmla="*/ 0 w 1252"/>
                <a:gd name="T1" fmla="*/ 1256 h 1726"/>
                <a:gd name="T2" fmla="*/ 0 w 1252"/>
                <a:gd name="T3" fmla="*/ 1256 h 1726"/>
                <a:gd name="T4" fmla="*/ 20 w 1252"/>
                <a:gd name="T5" fmla="*/ 1618 h 1726"/>
                <a:gd name="T6" fmla="*/ 37 w 1252"/>
                <a:gd name="T7" fmla="*/ 1646 h 1726"/>
                <a:gd name="T8" fmla="*/ 165 w 1252"/>
                <a:gd name="T9" fmla="*/ 1720 h 1726"/>
                <a:gd name="T10" fmla="*/ 198 w 1252"/>
                <a:gd name="T11" fmla="*/ 1721 h 1726"/>
                <a:gd name="T12" fmla="*/ 524 w 1252"/>
                <a:gd name="T13" fmla="*/ 1557 h 1726"/>
                <a:gd name="T14" fmla="*/ 524 w 1252"/>
                <a:gd name="T15" fmla="*/ 1557 h 1726"/>
                <a:gd name="T16" fmla="*/ 538 w 1252"/>
                <a:gd name="T17" fmla="*/ 1544 h 1726"/>
                <a:gd name="T18" fmla="*/ 1221 w 1252"/>
                <a:gd name="T19" fmla="*/ 360 h 1726"/>
                <a:gd name="T20" fmla="*/ 1235 w 1252"/>
                <a:gd name="T21" fmla="*/ 337 h 1726"/>
                <a:gd name="T22" fmla="*/ 1252 w 1252"/>
                <a:gd name="T23" fmla="*/ 307 h 1726"/>
                <a:gd name="T24" fmla="*/ 1222 w 1252"/>
                <a:gd name="T25" fmla="*/ 290 h 1726"/>
                <a:gd name="T26" fmla="*/ 1085 w 1252"/>
                <a:gd name="T27" fmla="*/ 211 h 1726"/>
                <a:gd name="T28" fmla="*/ 884 w 1252"/>
                <a:gd name="T29" fmla="*/ 95 h 1726"/>
                <a:gd name="T30" fmla="*/ 749 w 1252"/>
                <a:gd name="T31" fmla="*/ 17 h 1726"/>
                <a:gd name="T32" fmla="*/ 719 w 1252"/>
                <a:gd name="T33" fmla="*/ 0 h 1726"/>
                <a:gd name="T34" fmla="*/ 702 w 1252"/>
                <a:gd name="T35" fmla="*/ 29 h 1726"/>
                <a:gd name="T36" fmla="*/ 688 w 1252"/>
                <a:gd name="T37" fmla="*/ 53 h 1726"/>
                <a:gd name="T38" fmla="*/ 4 w 1252"/>
                <a:gd name="T39" fmla="*/ 1237 h 1726"/>
                <a:gd name="T40" fmla="*/ 0 w 1252"/>
                <a:gd name="T41" fmla="*/ 1256 h 1726"/>
                <a:gd name="T42" fmla="*/ 75 w 1252"/>
                <a:gd name="T43" fmla="*/ 1252 h 1726"/>
                <a:gd name="T44" fmla="*/ 744 w 1252"/>
                <a:gd name="T45" fmla="*/ 93 h 1726"/>
                <a:gd name="T46" fmla="*/ 820 w 1252"/>
                <a:gd name="T47" fmla="*/ 137 h 1726"/>
                <a:gd name="T48" fmla="*/ 185 w 1252"/>
                <a:gd name="T49" fmla="*/ 1238 h 1726"/>
                <a:gd name="T50" fmla="*/ 89 w 1252"/>
                <a:gd name="T51" fmla="*/ 1263 h 1726"/>
                <a:gd name="T52" fmla="*/ 75 w 1252"/>
                <a:gd name="T53" fmla="*/ 1252 h 1726"/>
                <a:gd name="T54" fmla="*/ 173 w 1252"/>
                <a:gd name="T55" fmla="*/ 1646 h 1726"/>
                <a:gd name="T56" fmla="*/ 87 w 1252"/>
                <a:gd name="T57" fmla="*/ 1596 h 1726"/>
                <a:gd name="T58" fmla="*/ 72 w 1252"/>
                <a:gd name="T59" fmla="*/ 1331 h 1726"/>
                <a:gd name="T60" fmla="*/ 169 w 1252"/>
                <a:gd name="T61" fmla="*/ 1333 h 1726"/>
                <a:gd name="T62" fmla="*/ 246 w 1252"/>
                <a:gd name="T63" fmla="*/ 1432 h 1726"/>
                <a:gd name="T64" fmla="*/ 370 w 1252"/>
                <a:gd name="T65" fmla="*/ 1449 h 1726"/>
                <a:gd name="T66" fmla="*/ 421 w 1252"/>
                <a:gd name="T67" fmla="*/ 1532 h 1726"/>
                <a:gd name="T68" fmla="*/ 173 w 1252"/>
                <a:gd name="T69" fmla="*/ 1646 h 1726"/>
                <a:gd name="T70" fmla="*/ 244 w 1252"/>
                <a:gd name="T71" fmla="*/ 1272 h 1726"/>
                <a:gd name="T72" fmla="*/ 879 w 1252"/>
                <a:gd name="T73" fmla="*/ 171 h 1726"/>
                <a:gd name="T74" fmla="*/ 1021 w 1252"/>
                <a:gd name="T75" fmla="*/ 253 h 1726"/>
                <a:gd name="T76" fmla="*/ 385 w 1252"/>
                <a:gd name="T77" fmla="*/ 1353 h 1726"/>
                <a:gd name="T78" fmla="*/ 280 w 1252"/>
                <a:gd name="T79" fmla="*/ 1373 h 1726"/>
                <a:gd name="T80" fmla="*/ 244 w 1252"/>
                <a:gd name="T81" fmla="*/ 1272 h 1726"/>
                <a:gd name="T82" fmla="*/ 490 w 1252"/>
                <a:gd name="T83" fmla="*/ 1491 h 1726"/>
                <a:gd name="T84" fmla="*/ 470 w 1252"/>
                <a:gd name="T85" fmla="*/ 1483 h 1726"/>
                <a:gd name="T86" fmla="*/ 445 w 1252"/>
                <a:gd name="T87" fmla="*/ 1388 h 1726"/>
                <a:gd name="T88" fmla="*/ 1080 w 1252"/>
                <a:gd name="T89" fmla="*/ 287 h 1726"/>
                <a:gd name="T90" fmla="*/ 1158 w 1252"/>
                <a:gd name="T91" fmla="*/ 332 h 1726"/>
                <a:gd name="T92" fmla="*/ 490 w 1252"/>
                <a:gd name="T93" fmla="*/ 1491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2" h="1726">
                  <a:moveTo>
                    <a:pt x="0" y="1256"/>
                  </a:moveTo>
                  <a:cubicBezTo>
                    <a:pt x="0" y="1256"/>
                    <a:pt x="0" y="1256"/>
                    <a:pt x="0" y="1256"/>
                  </a:cubicBezTo>
                  <a:cubicBezTo>
                    <a:pt x="20" y="1618"/>
                    <a:pt x="20" y="1618"/>
                    <a:pt x="20" y="1618"/>
                  </a:cubicBezTo>
                  <a:cubicBezTo>
                    <a:pt x="20" y="1629"/>
                    <a:pt x="27" y="1640"/>
                    <a:pt x="37" y="1646"/>
                  </a:cubicBezTo>
                  <a:cubicBezTo>
                    <a:pt x="165" y="1720"/>
                    <a:pt x="165" y="1720"/>
                    <a:pt x="165" y="1720"/>
                  </a:cubicBezTo>
                  <a:cubicBezTo>
                    <a:pt x="175" y="1726"/>
                    <a:pt x="187" y="1726"/>
                    <a:pt x="198" y="1721"/>
                  </a:cubicBezTo>
                  <a:cubicBezTo>
                    <a:pt x="524" y="1557"/>
                    <a:pt x="524" y="1557"/>
                    <a:pt x="524" y="1557"/>
                  </a:cubicBezTo>
                  <a:cubicBezTo>
                    <a:pt x="524" y="1557"/>
                    <a:pt x="524" y="1557"/>
                    <a:pt x="524" y="1557"/>
                  </a:cubicBezTo>
                  <a:cubicBezTo>
                    <a:pt x="530" y="1554"/>
                    <a:pt x="535" y="1550"/>
                    <a:pt x="538" y="1544"/>
                  </a:cubicBezTo>
                  <a:cubicBezTo>
                    <a:pt x="1221" y="360"/>
                    <a:pt x="1221" y="360"/>
                    <a:pt x="1221" y="360"/>
                  </a:cubicBezTo>
                  <a:cubicBezTo>
                    <a:pt x="1235" y="337"/>
                    <a:pt x="1235" y="337"/>
                    <a:pt x="1235" y="337"/>
                  </a:cubicBezTo>
                  <a:cubicBezTo>
                    <a:pt x="1252" y="307"/>
                    <a:pt x="1252" y="307"/>
                    <a:pt x="1252" y="307"/>
                  </a:cubicBezTo>
                  <a:cubicBezTo>
                    <a:pt x="1222" y="290"/>
                    <a:pt x="1222" y="290"/>
                    <a:pt x="1222" y="290"/>
                  </a:cubicBezTo>
                  <a:cubicBezTo>
                    <a:pt x="1085" y="211"/>
                    <a:pt x="1085" y="211"/>
                    <a:pt x="1085" y="211"/>
                  </a:cubicBezTo>
                  <a:cubicBezTo>
                    <a:pt x="884" y="95"/>
                    <a:pt x="884" y="95"/>
                    <a:pt x="884" y="95"/>
                  </a:cubicBezTo>
                  <a:cubicBezTo>
                    <a:pt x="749" y="17"/>
                    <a:pt x="749" y="17"/>
                    <a:pt x="749" y="17"/>
                  </a:cubicBezTo>
                  <a:cubicBezTo>
                    <a:pt x="719" y="0"/>
                    <a:pt x="719" y="0"/>
                    <a:pt x="719" y="0"/>
                  </a:cubicBezTo>
                  <a:cubicBezTo>
                    <a:pt x="702" y="29"/>
                    <a:pt x="702" y="29"/>
                    <a:pt x="702" y="29"/>
                  </a:cubicBezTo>
                  <a:cubicBezTo>
                    <a:pt x="688" y="53"/>
                    <a:pt x="688" y="53"/>
                    <a:pt x="688" y="53"/>
                  </a:cubicBezTo>
                  <a:cubicBezTo>
                    <a:pt x="4" y="1237"/>
                    <a:pt x="4" y="1237"/>
                    <a:pt x="4" y="1237"/>
                  </a:cubicBezTo>
                  <a:cubicBezTo>
                    <a:pt x="1" y="1243"/>
                    <a:pt x="0" y="1250"/>
                    <a:pt x="0" y="1256"/>
                  </a:cubicBezTo>
                  <a:close/>
                  <a:moveTo>
                    <a:pt x="75" y="1252"/>
                  </a:moveTo>
                  <a:cubicBezTo>
                    <a:pt x="744" y="93"/>
                    <a:pt x="744" y="93"/>
                    <a:pt x="744" y="93"/>
                  </a:cubicBezTo>
                  <a:cubicBezTo>
                    <a:pt x="820" y="137"/>
                    <a:pt x="820" y="137"/>
                    <a:pt x="820" y="137"/>
                  </a:cubicBezTo>
                  <a:cubicBezTo>
                    <a:pt x="185" y="1238"/>
                    <a:pt x="185" y="1238"/>
                    <a:pt x="185" y="1238"/>
                  </a:cubicBezTo>
                  <a:cubicBezTo>
                    <a:pt x="165" y="1271"/>
                    <a:pt x="123" y="1283"/>
                    <a:pt x="89" y="1263"/>
                  </a:cubicBezTo>
                  <a:cubicBezTo>
                    <a:pt x="84" y="1260"/>
                    <a:pt x="79" y="1256"/>
                    <a:pt x="75" y="1252"/>
                  </a:cubicBezTo>
                  <a:close/>
                  <a:moveTo>
                    <a:pt x="173" y="1646"/>
                  </a:moveTo>
                  <a:cubicBezTo>
                    <a:pt x="87" y="1596"/>
                    <a:pt x="87" y="1596"/>
                    <a:pt x="87" y="1596"/>
                  </a:cubicBezTo>
                  <a:cubicBezTo>
                    <a:pt x="72" y="1331"/>
                    <a:pt x="72" y="1331"/>
                    <a:pt x="72" y="1331"/>
                  </a:cubicBezTo>
                  <a:cubicBezTo>
                    <a:pt x="104" y="1343"/>
                    <a:pt x="138" y="1344"/>
                    <a:pt x="169" y="1333"/>
                  </a:cubicBezTo>
                  <a:cubicBezTo>
                    <a:pt x="176" y="1371"/>
                    <a:pt x="210" y="1412"/>
                    <a:pt x="246" y="1432"/>
                  </a:cubicBezTo>
                  <a:cubicBezTo>
                    <a:pt x="282" y="1453"/>
                    <a:pt x="333" y="1462"/>
                    <a:pt x="370" y="1449"/>
                  </a:cubicBezTo>
                  <a:cubicBezTo>
                    <a:pt x="376" y="1481"/>
                    <a:pt x="394" y="1511"/>
                    <a:pt x="421" y="1532"/>
                  </a:cubicBezTo>
                  <a:lnTo>
                    <a:pt x="173" y="1646"/>
                  </a:lnTo>
                  <a:close/>
                  <a:moveTo>
                    <a:pt x="244" y="1272"/>
                  </a:moveTo>
                  <a:cubicBezTo>
                    <a:pt x="879" y="171"/>
                    <a:pt x="879" y="171"/>
                    <a:pt x="879" y="171"/>
                  </a:cubicBezTo>
                  <a:cubicBezTo>
                    <a:pt x="1021" y="253"/>
                    <a:pt x="1021" y="253"/>
                    <a:pt x="1021" y="253"/>
                  </a:cubicBezTo>
                  <a:cubicBezTo>
                    <a:pt x="385" y="1353"/>
                    <a:pt x="385" y="1353"/>
                    <a:pt x="385" y="1353"/>
                  </a:cubicBezTo>
                  <a:cubicBezTo>
                    <a:pt x="366" y="1387"/>
                    <a:pt x="313" y="1393"/>
                    <a:pt x="280" y="1373"/>
                  </a:cubicBezTo>
                  <a:cubicBezTo>
                    <a:pt x="246" y="1354"/>
                    <a:pt x="225" y="1305"/>
                    <a:pt x="244" y="1272"/>
                  </a:cubicBezTo>
                  <a:close/>
                  <a:moveTo>
                    <a:pt x="490" y="1491"/>
                  </a:moveTo>
                  <a:cubicBezTo>
                    <a:pt x="483" y="1489"/>
                    <a:pt x="476" y="1487"/>
                    <a:pt x="470" y="1483"/>
                  </a:cubicBezTo>
                  <a:cubicBezTo>
                    <a:pt x="437" y="1464"/>
                    <a:pt x="425" y="1421"/>
                    <a:pt x="445" y="1388"/>
                  </a:cubicBezTo>
                  <a:cubicBezTo>
                    <a:pt x="1080" y="287"/>
                    <a:pt x="1080" y="287"/>
                    <a:pt x="1080" y="287"/>
                  </a:cubicBezTo>
                  <a:cubicBezTo>
                    <a:pt x="1158" y="332"/>
                    <a:pt x="1158" y="332"/>
                    <a:pt x="1158" y="332"/>
                  </a:cubicBezTo>
                  <a:lnTo>
                    <a:pt x="490" y="149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 name="Freeform 7"/>
            <p:cNvSpPr/>
            <p:nvPr/>
          </p:nvSpPr>
          <p:spPr bwMode="auto">
            <a:xfrm>
              <a:off x="2463246" y="4116733"/>
              <a:ext cx="123802" cy="120387"/>
            </a:xfrm>
            <a:custGeom>
              <a:avLst/>
              <a:gdLst>
                <a:gd name="T0" fmla="*/ 290 w 290"/>
                <a:gd name="T1" fmla="*/ 168 h 282"/>
                <a:gd name="T2" fmla="*/ 0 w 290"/>
                <a:gd name="T3" fmla="*/ 0 h 282"/>
                <a:gd name="T4" fmla="*/ 30 w 290"/>
                <a:gd name="T5" fmla="*/ 282 h 282"/>
                <a:gd name="T6" fmla="*/ 290 w 290"/>
                <a:gd name="T7" fmla="*/ 168 h 282"/>
              </a:gdLst>
              <a:ahLst/>
              <a:cxnLst>
                <a:cxn ang="0">
                  <a:pos x="T0" y="T1"/>
                </a:cxn>
                <a:cxn ang="0">
                  <a:pos x="T2" y="T3"/>
                </a:cxn>
                <a:cxn ang="0">
                  <a:pos x="T4" y="T5"/>
                </a:cxn>
                <a:cxn ang="0">
                  <a:pos x="T6" y="T7"/>
                </a:cxn>
              </a:cxnLst>
              <a:rect l="0" t="0" r="r" b="b"/>
              <a:pathLst>
                <a:path w="290" h="282">
                  <a:moveTo>
                    <a:pt x="290" y="168"/>
                  </a:moveTo>
                  <a:lnTo>
                    <a:pt x="0" y="0"/>
                  </a:lnTo>
                  <a:lnTo>
                    <a:pt x="30" y="282"/>
                  </a:lnTo>
                  <a:lnTo>
                    <a:pt x="290"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12" name="Rectangle 8"/>
          <p:cNvSpPr>
            <a:spLocks noChangeArrowheads="1"/>
          </p:cNvSpPr>
          <p:nvPr/>
        </p:nvSpPr>
        <p:spPr bwMode="auto">
          <a:xfrm>
            <a:off x="2035470" y="3466771"/>
            <a:ext cx="8259484" cy="45719"/>
          </a:xfrm>
          <a:prstGeom prst="rect">
            <a:avLst/>
          </a:pr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5" name="文本框 14"/>
          <p:cNvSpPr txBox="1"/>
          <p:nvPr/>
        </p:nvSpPr>
        <p:spPr>
          <a:xfrm>
            <a:off x="3002710" y="2723245"/>
            <a:ext cx="74980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srgbClr val="23373B"/>
                </a:solidFill>
                <a:latin typeface="微软雅黑" panose="020B0503020204020204" pitchFamily="34" charset="-122"/>
                <a:ea typeface="微软雅黑" panose="020B0503020204020204" pitchFamily="34" charset="-122"/>
                <a:sym typeface="+mn-ea"/>
              </a:rPr>
              <a:t>汇报完毕！请各位老师和同学批评指正</a:t>
            </a:r>
            <a:r>
              <a:rPr lang="zh-CN" altLang="en-US" sz="3200" dirty="0">
                <a:solidFill>
                  <a:srgbClr val="23373B"/>
                </a:solidFill>
                <a:latin typeface="微软雅黑" panose="020B0503020204020204" pitchFamily="34" charset="-122"/>
                <a:ea typeface="微软雅黑" panose="020B0503020204020204" pitchFamily="34" charset="-122"/>
                <a:sym typeface="+mn-ea"/>
              </a:rPr>
              <a:t>！</a:t>
            </a:r>
            <a:endParaRPr kumimoji="0" lang="zh-CN" altLang="en-US" sz="3200" b="1" i="0" u="none" strike="noStrike" kern="1200" cap="none" spc="0" normalizeH="0" baseline="0" noProof="0" dirty="0">
              <a:ln>
                <a:noFill/>
              </a:ln>
              <a:solidFill>
                <a:srgbClr val="23373B"/>
              </a:solidFill>
              <a:effectLst/>
              <a:uLnTx/>
              <a:uFillTx/>
              <a:latin typeface="微软雅黑" panose="020B0503020204020204" pitchFamily="34" charset="-122"/>
              <a:ea typeface="微软雅黑" panose="020B0503020204020204" pitchFamily="34" charset="-122"/>
              <a:cs typeface="+mn-cs"/>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5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1000" fill="hold"/>
                                        <p:tgtEl>
                                          <p:spTgt spid="16"/>
                                        </p:tgtEl>
                                        <p:attrNameLst>
                                          <p:attrName>ppt_x</p:attrName>
                                        </p:attrNameLst>
                                      </p:cBhvr>
                                      <p:tavLst>
                                        <p:tav tm="0">
                                          <p:val>
                                            <p:strVal val="1+#ppt_w/2"/>
                                          </p:val>
                                        </p:tav>
                                        <p:tav tm="100000">
                                          <p:val>
                                            <p:strVal val="#ppt_x"/>
                                          </p:val>
                                        </p:tav>
                                      </p:tavLst>
                                    </p:anim>
                                    <p:anim calcmode="lin" valueType="num">
                                      <p:cBhvr additive="base">
                                        <p:cTn id="8" dur="1000" fill="hold"/>
                                        <p:tgtEl>
                                          <p:spTgt spid="16"/>
                                        </p:tgtEl>
                                        <p:attrNameLst>
                                          <p:attrName>ppt_y</p:attrName>
                                        </p:attrNameLst>
                                      </p:cBhvr>
                                      <p:tavLst>
                                        <p:tav tm="0">
                                          <p:val>
                                            <p:strVal val="#ppt_y"/>
                                          </p:val>
                                        </p:tav>
                                        <p:tav tm="100000">
                                          <p:val>
                                            <p:strVal val="#ppt_y"/>
                                          </p:val>
                                        </p:tav>
                                      </p:tavLst>
                                    </p:anim>
                                  </p:childTnLst>
                                </p:cTn>
                              </p:par>
                              <p:par>
                                <p:cTn id="9" presetID="22" presetClass="entr" presetSubtype="2" fill="hold" grpId="0" nodeType="withEffect">
                                  <p:stCondLst>
                                    <p:cond delay="150"/>
                                  </p:stCondLst>
                                  <p:childTnLst>
                                    <p:set>
                                      <p:cBhvr>
                                        <p:cTn id="10" dur="1" fill="hold">
                                          <p:stCondLst>
                                            <p:cond delay="0"/>
                                          </p:stCondLst>
                                        </p:cTn>
                                        <p:tgtEl>
                                          <p:spTgt spid="12"/>
                                        </p:tgtEl>
                                        <p:attrNameLst>
                                          <p:attrName>style.visibility</p:attrName>
                                        </p:attrNameLst>
                                      </p:cBhvr>
                                      <p:to>
                                        <p:strVal val="visible"/>
                                      </p:to>
                                    </p:set>
                                    <p:animEffect transition="in" filter="wipe(right)">
                                      <p:cBhvr>
                                        <p:cTn id="11" dur="1000"/>
                                        <p:tgtEl>
                                          <p:spTgt spid="12"/>
                                        </p:tgtEl>
                                      </p:cBhvr>
                                    </p:animEffect>
                                  </p:childTnLst>
                                </p:cTn>
                              </p:par>
                            </p:childTnLst>
                          </p:cTn>
                        </p:par>
                        <p:par>
                          <p:cTn id="12" fill="hold">
                            <p:stCondLst>
                              <p:cond delay="1000"/>
                            </p:stCondLst>
                            <p:childTnLst>
                              <p:par>
                                <p:cTn id="13" presetID="53" presetClass="entr" presetSubtype="16" fill="hold" grpId="0" nodeType="afterEffect">
                                  <p:stCondLst>
                                    <p:cond delay="0"/>
                                  </p:stCondLst>
                                  <p:iterate type="lt">
                                    <p:tmPct val="10000"/>
                                  </p:iterate>
                                  <p:childTnLst>
                                    <p:set>
                                      <p:cBhvr>
                                        <p:cTn id="14" dur="1" fill="hold">
                                          <p:stCondLst>
                                            <p:cond delay="0"/>
                                          </p:stCondLst>
                                        </p:cTn>
                                        <p:tgtEl>
                                          <p:spTgt spid="15"/>
                                        </p:tgtEl>
                                        <p:attrNameLst>
                                          <p:attrName>style.visibility</p:attrName>
                                        </p:attrNameLst>
                                      </p:cBhvr>
                                      <p:to>
                                        <p:strVal val="visible"/>
                                      </p:to>
                                    </p:set>
                                    <p:anim calcmode="lin" valueType="num">
                                      <p:cBhvr>
                                        <p:cTn id="15" dur="500" fill="hold"/>
                                        <p:tgtEl>
                                          <p:spTgt spid="15"/>
                                        </p:tgtEl>
                                        <p:attrNameLst>
                                          <p:attrName>ppt_w</p:attrName>
                                        </p:attrNameLst>
                                      </p:cBhvr>
                                      <p:tavLst>
                                        <p:tav tm="0">
                                          <p:val>
                                            <p:fltVal val="0"/>
                                          </p:val>
                                        </p:tav>
                                        <p:tav tm="100000">
                                          <p:val>
                                            <p:strVal val="#ppt_w"/>
                                          </p:val>
                                        </p:tav>
                                      </p:tavLst>
                                    </p:anim>
                                    <p:anim calcmode="lin" valueType="num">
                                      <p:cBhvr>
                                        <p:cTn id="16" dur="500" fill="hold"/>
                                        <p:tgtEl>
                                          <p:spTgt spid="15"/>
                                        </p:tgtEl>
                                        <p:attrNameLst>
                                          <p:attrName>ppt_h</p:attrName>
                                        </p:attrNameLst>
                                      </p:cBhvr>
                                      <p:tavLst>
                                        <p:tav tm="0">
                                          <p:val>
                                            <p:fltVal val="0"/>
                                          </p:val>
                                        </p:tav>
                                        <p:tav tm="100000">
                                          <p:val>
                                            <p:strVal val="#ppt_h"/>
                                          </p:val>
                                        </p:tav>
                                      </p:tavLst>
                                    </p:anim>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p:bldLst>
  </p:timing>
</p:sld>
</file>

<file path=ppt/tags/tag1.xml><?xml version="1.0" encoding="utf-8"?>
<p:tagLst xmlns:p="http://schemas.openxmlformats.org/presentationml/2006/main">
  <p:tag name="KSO_WM_DIAGRAM_VIRTUALLY_FRAME" val="{&quot;height&quot;:298.72795275590545,&quot;left&quot;:436.55,&quot;top&quot;:122.85299212598424,&quot;width&quot;:404.59283464566926}"/>
</p:tagLst>
</file>

<file path=ppt/tags/tag2.xml><?xml version="1.0" encoding="utf-8"?>
<p:tagLst xmlns:p="http://schemas.openxmlformats.org/presentationml/2006/main">
  <p:tag name="KSO_WM_DIAGRAM_VIRTUALLY_FRAME" val="{&quot;height&quot;:298.72795275590545,&quot;left&quot;:436.55,&quot;top&quot;:122.85299212598424,&quot;width&quot;:404.59283464566926}"/>
</p:tagLst>
</file>

<file path=ppt/tags/tag3.xml><?xml version="1.0" encoding="utf-8"?>
<p:tagLst xmlns:p="http://schemas.openxmlformats.org/presentationml/2006/main">
  <p:tag name="KSO_WM_DIAGRAM_VIRTUALLY_FRAME" val="{&quot;height&quot;:298.72795275590545,&quot;left&quot;:436.55,&quot;top&quot;:122.85299212598424,&quot;width&quot;:404.59283464566926}"/>
</p:tagLst>
</file>

<file path=ppt/tags/tag4.xml><?xml version="1.0" encoding="utf-8"?>
<p:tagLst xmlns:p="http://schemas.openxmlformats.org/presentationml/2006/main">
  <p:tag name="KSO_WM_DIAGRAM_VIRTUALLY_FRAME" val="{&quot;height&quot;:298.72795275590545,&quot;left&quot;:436.55,&quot;top&quot;:122.85299212598424,&quot;width&quot;:404.59283464566926}"/>
</p:tagLst>
</file>

<file path=ppt/tags/tag5.xml><?xml version="1.0" encoding="utf-8"?>
<p:tagLst xmlns:p="http://schemas.openxmlformats.org/presentationml/2006/main">
  <p:tag name="KSO_WM_DIAGRAM_VIRTUALLY_FRAME" val="{&quot;height&quot;:298.72795275590545,&quot;left&quot;:436.55,&quot;top&quot;:122.85299212598424,&quot;width&quot;:404.59283464566926}"/>
</p:tagLst>
</file>

<file path=ppt/tags/tag6.xml><?xml version="1.0" encoding="utf-8"?>
<p:tagLst xmlns:p="http://schemas.openxmlformats.org/presentationml/2006/main">
  <p:tag name="KSO_WM_DIAGRAM_VIRTUALLY_FRAME" val="{&quot;height&quot;:298.72795275590545,&quot;left&quot;:436.55,&quot;top&quot;:122.85299212598424,&quot;width&quot;:404.59283464566926}"/>
</p:tagLst>
</file>

<file path=ppt/tags/tag7.xml><?xml version="1.0" encoding="utf-8"?>
<p:tagLst xmlns:p="http://schemas.openxmlformats.org/presentationml/2006/main">
  <p:tag name="KSO_WM_DIAGRAM_VIRTUALLY_FRAME" val="{&quot;height&quot;:298.72795275590545,&quot;left&quot;:436.55,&quot;top&quot;:122.85299212598424,&quot;width&quot;:404.59283464566926}"/>
</p:tagLst>
</file>

<file path=ppt/tags/tag8.xml><?xml version="1.0" encoding="utf-8"?>
<p:tagLst xmlns:p="http://schemas.openxmlformats.org/presentationml/2006/main">
  <p:tag name="KSO_WM_DIAGRAM_VIRTUALLY_FRAME" val="{&quot;height&quot;:298.72795275590545,&quot;left&quot;:436.55,&quot;top&quot;:122.85299212598424,&quot;width&quot;:404.59283464566926}"/>
</p:tagLst>
</file>

<file path=ppt/tags/tag9.xml><?xml version="1.0" encoding="utf-8"?>
<p:tagLst xmlns:p="http://schemas.openxmlformats.org/presentationml/2006/main">
  <p:tag name="KSO_WM_DIAGRAM_VIRTUALLY_FRAME" val="{&quot;height&quot;:298.72795275590545,&quot;left&quot;:436.55,&quot;top&quot;:122.85299212598424,&quot;width&quot;:404.59283464566926}"/>
</p:tagLst>
</file>

<file path=ppt/tags/tag10.xml><?xml version="1.0" encoding="utf-8"?>
<p:tagLst xmlns:p="http://schemas.openxmlformats.org/presentationml/2006/main">
  <p:tag name="KSO_WM_DIAGRAM_VIRTUALLY_FRAME" val="{&quot;height&quot;:298.72795275590545,&quot;left&quot;:436.55,&quot;top&quot;:122.85299212598424,&quot;width&quot;:404.59283464566926}"/>
</p:tagLst>
</file>

<file path=ppt/tags/tag11.xml><?xml version="1.0" encoding="utf-8"?>
<p:tagLst xmlns:p="http://schemas.openxmlformats.org/presentationml/2006/main">
  <p:tag name="KSO_WM_DIAGRAM_VIRTUALLY_FRAME" val="{&quot;height&quot;:298.72795275590545,&quot;left&quot;:436.55,&quot;top&quot;:122.85299212598424,&quot;width&quot;:404.59283464566926}"/>
</p:tagLst>
</file>

<file path=ppt/tags/tag12.xml><?xml version="1.0" encoding="utf-8"?>
<p:tagLst xmlns:p="http://schemas.openxmlformats.org/presentationml/2006/main">
  <p:tag name="KSO_WM_DIAGRAM_VIRTUALLY_FRAME" val="{&quot;height&quot;:298.72795275590545,&quot;left&quot;:436.55,&quot;top&quot;:122.85299212598424,&quot;width&quot;:404.59283464566926}"/>
</p:tagLst>
</file>

<file path=ppt/tags/tag13.xml><?xml version="1.0" encoding="utf-8"?>
<p:tagLst xmlns:p="http://schemas.openxmlformats.org/presentationml/2006/main">
  <p:tag name="KSO_WM_UNIT_PLACING_PICTURE_USER_VIEWPORT" val="{&quot;height&quot;:3960,&quot;width&quot;:9732}"/>
</p:tagLst>
</file>

<file path=ppt/tags/tag14.xml><?xml version="1.0" encoding="utf-8"?>
<p:tagLst xmlns:p="http://schemas.openxmlformats.org/presentationml/2006/main">
  <p:tag name="ISPRING_ULTRA_SCORM_COURSE_ID" val="764BBBCC-00B6-4035-872C-015666733040"/>
  <p:tag name="ISPRING_SCORM_RATE_SLIDES" val="1"/>
  <p:tag name="ISPRINGONLINEFOLDERID" val="0"/>
  <p:tag name="ISPRINGONLINEFOLDERPATH" val="内容列表"/>
  <p:tag name="ISPRINGCLOUDFOLDERID" val="0"/>
  <p:tag name="ISPRINGCLOUDFOLDERPATH" val="资源库"/>
  <p:tag name="ISPRING_ULTRA_SCORM_SLIDE_COUNT" val="1"/>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wQUAAIACAAgTXtIFQ6tKGQEAAAHEQAAHQAAAHVuaXZlcnNhbC9jb21tb25fbWVzc2FnZXMubG5nrVhtb9s2EP5eoP+BEFBgA7a0HdCiGBIHtMTYRGTJleg42QsERmJsIpSY6cVt9mm/Zj9sv2RHyk7ivkBSEsA2TMr33PHunrujD48/5wptRFlJXRw5bw/eOEgUqc5ksTpyFuzk5w8OqmpeZFzpQhw5hXbQ8ejli0PFi1XDVwK+v3yB0GEuqgqW1cis7tdIZkfOfJy44WyOg4vEDydhMqYTZ+Tq/IYXt8jXK/1H+cMv7z98fvvu/Y+Hr7eSfYDiGfb9fShkkd696QEUsCj0E0AjfhKQc+aMzOcwuXDBfBoQZ7T9Mkx6HpEzZ2Q+O+UWUUQClsQ+9UhC4yQImfWFTxjxnNGFbtCabwSqNdpI8QnVawGRrGUpUKVkZh+kGjaKRnQp88IZpkESkZhF1GU0DJxRrMvy9icLy5t6rUtQV6FMVvxSiczqhJyxz29KUYFqXkNOIXjVawm/1DmXxUGn6ggvaTBJWBj6cUICb7fjjEiRIa/kRs1AlAjHJAKAkleifIRsYrPMiiOs1DCEKZ1MfXgzY8JUrtYK3vVQO+YEYjAXRZcU5AiJILvieBlGnnEaqEIc3fCq+qTLbC8/HgaqC5gGbggp6LIH4Mxg7IAhxhIqR1mKtO4Cm5E4xhOSjMNzSGTgXThEIjwFup0OkbggMVCExF0yAT6jE2wS3lBsl/87fqXcpLO6RTxNQc64byN1U8GOcSmwwDKtOhimJiYfFxA2iv3v0LhFBe/a1UpuBNhRZqLsVASVxSWeyaKPC/pbcoKpT7wE0soLlwmzJc9ozPktKnSNeLbhRSrQpUh5A7l+C88ymdlnJs5W/1+N/BvxeltVXm0LUuCR81dD7dmrYd8wq6nAproW+U3dpdo4bGv+Y6wwOf1dE/oc/XH6Y5cEOKLh80Smknmj2qr75PjcWTY0Rp1GPNFT/aP13JbEbW0dUyhYY6n7SxDopqZ/QANU/aVocAKK5m2JhhpOi6sBOoNwCxBo9FiMM3DVngln4MIB8ksyjimD2WgpLitZd44dlo1tgL4d2hTmPCVqcU/GS3GlYcJRgm/a6QO6kI10Z0AfDDd7rYJR5oPJAQCu2uQBSCVzsD/rgbmYkZ0H2gK/d5KlblRmyavktS3y4NsmF1+PTVelzu2u4tUuedsmc/wUK9rDRa3S+YD2f8e/3vF5QL/HRykmOHKniYsDl5hB33BV9RQCChhX+CxOfDw24sCFnNfpGprplW6KrCdQO6t75AQD2PbMseBluv7vn397YnxhSbuLtru/DgIBYpsqSO7Afg90Lao/u0AYHu/L2UUfqe3dZifX86rDKGThs9wheNtacp3D1kG3XkjybdAwY9idzoAHsU173ZQwug1BmOHoFGqZncKd0YyX11AImdZqEIp1tUnAepj2++tlUytZiCGyT2sl5sCMzhPsefauDeRTMr1ue2YGN4p0e+lWcOnuC+ZOcQB19gs8kcl6IKBtTbsqBERv1/c033zdqe5Wlf3L4vD1g38w/gdQSwMEFAACAAgAIE17SAh+CyMpAwAAhgwAACcAAAB1bml2ZXJzYWwvZmxhc2hfcHVibGlzaGluZ19zZXR0aW5ncy54bWzVV91u2jAUvucpLE+9LGk7unYooaoKaNVaQIVt7VVlYkOsOnYW21B6tafZg+1JdhwDBbXr0h+kTQgRn5/v/J+Y8Og2FWjCcs2VjPBudQcjJmNFuRxH+MugvX2IkTZEUiKUZBGWCqOjRiXM7FBwnfSZMSCqEcBIXc9MhBNjsnoQTKfTKtdZ7rhKWAP4uhqrNMhyppk0LA8yQWbwY2YZ03iOUAIAvqmSc7VGpYJQ6JHOFbWCIU7Bc8ldUES0BdEJDrzYkMQ341xZSU+UUDnKx8MIvzs8dp+FjIdq8pRJlxPdAKIjmzqhlDsviOjzO4YSxscJuHtQw2jKqUkivFdzKCAdPEQpsH3oxKGcKMiBNHP4lBlCiSH+6O0Zdmv0guBJdCZJyuMBcJCLP8LNwfWnq17r4uy08/l60O2eDU573olCJ1jHCYN1QyE4pGwes6WdkBhD4gT8Bp0REZqFwSppITZScs05d0ZDJSD3hRa0UTpktENStlKN/g2XbZDcxWgEgYhZhI9zTgRG3BDB46WytkNtuCmq3l6VRIAF7cnQeR/fm/fZiROSa7bq1oKjXc7jxjdlBUUzZZHgNwwZhSB+m8JTwtBqcdAoV2lBhfYxSAsOFiecTRk9KnI6B/yToSswkVrQhF7NBDPewnfL79CQjVQOuIxMoLOBzrXHrz4LOCNa34OShY9b/bPTZuv6tNNsXW65AAmdEBk/ExwKztLMbASfzJBUZqEH6YiJ1awoCuW04JWJrfryMmieWuHL/NbFWIHeYEk2Y+U5hfmrB6XNJmRSDKIbrgIaRpBDSTwmMGJYF1xaVhYwJhIpKWaIxLDWtBvrCVdWA8UPsIfWL/fQ6yMui9MYVhtYzCnLS0Hu7O69r+1/ODj8WK8Gv3783H5Sab7we4I4c37jnzy58pdr/+E2DAO3pR9f2ia3/+bO7l20vpbJa6d1OShV0la/FFy3jFT3cxmpC/+S6a28YEq5AEtp7IcM1pLgKTeMvmWLvaBNXvVu9z22mTbZYMyvGY3/JmR/Wl4T1+6FYfDoxdVxUi55ColwK3F5223s13bgpvkoq1IBtPX/Do3Kb1BLAwQUAAIACAAgTXtIfh21ZrcCAABQCgAAIQAAAHVuaXZlcnNhbC9mbGFzaF9za2luX3NldHRpbmdzLnhtbJVWbW/aMBD+vl+B2HfSvdJJKRKlTKrUrdVa9buTHImFY0e2Q8e/n8+xGxsIZJwq4bvn8b347miqtpQvPkwmaS6YkM+gNeWlQo3XTWhxM81arQWf5YJr4HrGhawJmy4+/rSfNLHISyyxAzmWsyE59G7m9jOG4nx8m6MMEXJRN4TvH0QpZhnJt6UULS8uhlbtG5CM8q1BXv2Yr9aDDhhV+l5DHcW0vkYZR2kkKAUY0vc1ykUWIxkw7+nKfkZyelfnsz+g7aii2tKWn1CGaA0pIS7y9RJlGM/N7fGrzFHOEzT81Qb65TPKIJSRPcj48ruvKIMM0bTN//RII0WJBY055x/xncMEKcz4YVRXKBcJmBA6uvgKrjw217sA5L6Gc5/iuErBnrCuBwsBHz1jsNCyhTTxp86mKvH22GozH7DYEKYMIFT1oCcT9BNplb8m1vW4P/BGeRGAnKJHvArW1rDq4g2Asb7Hr1a3dlWE8b3rggAl7JwyiLBX9sjfpqxHyEDZI58ZLeCRs/0R/NDScfwT3xL3mOerb6zAiTn6evmTt6KnBxxcFbh2Co+pRQELheG80Brw1dLE6rqQkqOYUk52tCSaCv4LcdneJqPS5MDgOu10X6Waagan2s3GaJZ0+F72HHejs8bt2P0o9Ml154k2O/xmSrQmeVWbHyU1nTieGRJTmGlymoFb0sBB3vONGMmpidyCfBGCjfXChYYQazMbAotusobgaRKUIE1OFzl1l5yqPm/rDOTaPBoF3zWxrsNVtKyY+dOvFN6giAkDxo6pK3MdJ/S9KQOF6wAgMq98y3aHzlK3TFMGO/CDHyhswkOZpcq06FC3LfUDbHTYb04zqiHdnugbJcTFhhOEVxOXiDdOaBjR85pkymYWjb3fwP3N0U72qwxbL9xi9uw6KbrY2I8raJT4n+Q/UEsDBBQAAgAIACBNe0gqlg9n/gIAAJcLAAAmAAAAdW5pdmVyc2FsL2h0bWxfcHVibGlzaGluZ19zZXR0aW5ncy54bWzNlm9PGjEYwN/zKZouvpRT56YjdxgjGIlOiLBNX5lyLVxjr721PfB8tU+zD7ZPsqdXQIiOnUaWhRDo0z6/51/7tOHRfSrQhGnDlYzwbn0HIyZjRbkcR/jL4HT7ECNjiaREKMkiLBVGR81amOVDwU3SZ9bCUoMAI00jsxFOrM0aQTCdTuvcZNrNKpFb4Jt6rNIg08wwaZkOMkEK+LFFxgyeESoA4JsqOVNr1moIhZ70WdFcMMQpeC65C4qIM5sKHPhVQxLfjbXKJT1RQmmkx8MIvzs8dp/5Gk9q8ZRJlxLTBKET2wahlDsniOjzB4YSxscJeHuwj9GUU5tEeG/fUWB18JRSsn3kxFFOFKRA2hk+ZZZQYokfenuW3VszF3gRLSRJeTyAGeTCj3BrcHt202tfXXQuz28H3e7FoNPzTpQ6wSonDFYNheCQynXMFnZCYi2JE/AbdEZEGBYGy6L5spGSK865MRoqAakvtTAagaeiiPCx5kRgxC0RPF7MWqLHzJ5yATE43d36SFr8CPTxxgnRhi0bms8Yl8W4+U3lgqJC5UjwO4asQhBRnsK/hKHldKORVmkpFcRYZASnDE04mzJ6VGZpBvyToRswkeagCZsvE8x6C99z/oCGbKQ0cBmZwFYFOTeeX38ROCPGPELJ3Met/kWn1b7tXLba11suQEInRMYvhEMJWZrZjfBJgaSycz1IR0xyw8qiUE7LuSqx1V9fBsPTXPgyv3UxltAbLMlmrLykMH/1oLLZhEzKg+gOV4mGI8ihJJ4JEzEcdy5zVhUYE4mUFAUiMTQq4471hKvcgMQfYI82r/fQ6yMuy9EYbg6wqCnTlZA7u3vv9z98PDj81KgHv3783F6rNGvhPUGcOd/DT9Y28UUjf9oNw8D1zufbsNX5v+rCvav21yqZumxfDyoVqd2vhOtWWdU9r7Lqyl8bvaUro5IL0GbG/thAoxE85ZbRt9w0ryj8+vvXb4s3KvwGo1i7ff/fIPxo8dxaeV+FwbMPwBrIVx/TzdpvUEsDBBQAAgAIACBNe0j+2QZdoAEAAC0GAAAfAAAAdW5pdmVyc2FsL2h0bWxfc2tpbl9zZXR0aW5ncy5qc42UTW/CMAyG7/yKKrtOiH3CdkODSUgcJo3btEMoplSkcZSEDob476vDV9Omg/jSvH36OnblbFtRsVjMotdo657d/sPfOw1Is3oFt74uGvSMdGZEOoNJmoFIJbAKkh8/Pcm7MxEyZtKZTjefZGtKfgzpzZwLU8ZVwEIHNBPQ8oD2E9DWocS/XmWHqvYVldo8XVmLsh2jtCBtW6LOuGPYzbtb5QIrMOagL6BzHoNn2nWriTw7PnUpylyMmeJyM8YE21MeLxONKzlryr/YKNDFD1/ugc5L923o2YnU2JGFrJp42KNoJpUGY+CQ93lIEYQFn4Io+Xbc+gf1jOsFVeg8Nak90v07ijKteAK1LvX6FD4mC69aN7sUdc7C2u6Jh3sKjxB8A7pmNXik8EBUK3XFD1QaE+pIDa33/IQK5LNUJofUHYogR4cl26bunQt1xx8wb4SwMkKLwERmTRfHFVNvg4NrKlnHoZkXITGUFwOaCn2cn0TvNLZ6jdD+K2LcWh4vsuJ2KG5G6jiY4hn0SM6RhIzrJegJoijq+b508mry1u4PUEsDBBQAAgAIACBNe0g9PC/RwQAAAOUBAAAaAAAAdW5pdmVyc2FsL2kxOG5fcHJlc2V0cy54bWydkbEKwjAQhvc+RbjdxG6lJHUT3Bx0lpqmGmkvJZdaH9+UinSRgEMg//F9PyQnd6++Y0/jyTpUkPMtMIPaNRZvCs6n/aYARqHGpu4cGgXogO2qTNq8wKM3ZAKxWIGk4B7CUAoxTRO3NPjYQK4bQywmrl0v4ukditkUw6LC4pb2L/szgyrLGJPX0XbhgFW8x7QgjLxWMDsXjdxi60D8AhqTAEyqwVACaH0CeAwJwI8rQIrvm+ekRwrxo2KQYrWeKnsDUEsDBBQAAgAIACBNe0gM0rasbgAAAG4AAAAcAAAAdW5pdmVyc2FsL2xvY2FsX3NldHRpbmdzLnhtbLOxr8jNUShLLSrOzM+zVTLUM1BSSM1Lzk/JzEu3VQoNcdO1UFIoLknMS0nMyc9LtVXKy1dSsLfjssnJT07MCU4tKQEqLFYoyEmsTC0KSc0FMkpS/RJzgSqftq542bxCQVfhyf51z6bsVNK34wIAUEsDBBQAAgAIAESUV0cjtE77+wIAALAIAAAUAAAAdW5pdmVyc2FsL3BsYXllci54bWytVd9P2zAQfi7S/ofI79gtHQOqBMSQ0B7GhNSx7a0yiZt4TeLMdgjlr9/Zzu+lbEh7aJWc7/vufPfdxb96zlLviUnFRR6gBZ4jj+WhiHgeB+jh6+3xObq6fHfkFyndM+nxKEBlzg2ApsiLmAolLzSA76lOAtQzYGBGXiG5kFzvgfsUuNtIJ0v07mgGLrkKUKJ1sSKkqirMFSDyWIm0NCQKhyIjhWSK5ZpJ4tJAXoNd6b+j4ZeJnOh9wVQPWei3B65JWo5nxQck1RILGZOT+XxBftx9XocJy+gxz5WmeciQB5Wc2VI+0nB3J6IyZcrYZr5Lcs20NklY28zXK744zz0lwwA5h03GlKIxUzjNY0QclkyA/W1KVVLzqAGt4VU7XvNav4153zRutnOkcy7Kx5SrBI76kM46CfTJMKqf2etaBT00Cro1TMiT7FfJJYvs67dWjPMFcgFbxdk8sapCOICnWxpqIfc3AAMV1R3EbdOwaxq2oJYDt9HXHQVqbrtlVJeSNaWa+U88YuILlZIaWVxqWTKfjIw1lgzBPnFXrpvUNcRPdJae/kNvjN+oNT/Va52xgP/RmE9A1NaE5xF7vuXgo1kGNdUMim1sWBcpNjG7nFT5mPV0PTC5HOumwEU8TWXMYAwjqinp7OQQlEmqwCUs5QjbOzgITnicpPDTkwzj04M0GZW7SYbewUFwKsLdBLQ1t2Uk4zqOxNQqyCcT68QPS6VFxl+sPAd7Rq+sDl8buebouuDtwdn8j1EcxGgGc4smVpd56u2r5vDezKlWnc+mcJaBWmEemC4L59XMQlmMfCK2pWWqb/o5NfuwBx3lPDUd01zfQe+iWvMX5lU8Ml+6xdLUJGFGMwH6cL7sMUA/YbsMwlvToYhbkTd1wJjYN/dvK9ps+bp1ruuHOuxDDZ84qxzGzdRHUEcsRZlHox7iovuIqBR22rVk1EvZFm60OAGRiiJA7+GhvvPF6UV35bPFRYO1ed27wC6XN6z0OuFOQaTWdXsRv94N8PgbUEsDBBQAAgAIACBNe0g129mtaAEAAPMCAAApAAAAdW5pdmVyc2FsL3NraW5fY3VzdG9taXphdGlvbl9zZXR0aW5ncy54bWyNUttqGzEQfc9XiPyAJY1uC1uDrsWQh0IT8rz1qmGJoy0rhYSij682rXHcurSap5lz5gwzOn1+nJJ9zmV+mr4PZZrT51jKlB7y9gqhfj8f5uXTEnMseXOq3E9pnF926eu81lo1lyGNwzLaFc1bjMLbQ0pq5VTLmGEUSeapV8h5bhvWgevANsxRYvvNbxI/dZe4j6lcVu03Z+ifDbuU41J2aYyvWzhnv4fON/i4DOPUeHkr2Br1OLU6tgZihEvuK9UAIJDljjhcpeykJshjxjFUoyhQQIRz0olKJOXQstCJpsJ8JxCTjFFXqaetG2ltHLVVQkeIbtO86mwNwUiMESEEmKtcQDAYNTY0DQ1qPSA4MCCqNpooQMEGE1j1zgvLkaJeYFyZMYDx6bin7d6f61T973WO5/yH4MUvuIiu3tpcMFe/f16WRr6NT98OQ4noy5DjbvxwHe5ubq5/efLNv0fGatS28V99/QNQSwMEFAACAAgAIU17SIdKO5ZCDwAAGiQAABcAAAB1bml2ZXJzYWwvdW5pdmVyc2FsLnBuZ+1a+VvS2f7HasamXMamchdLp7lTjktetxIpc6MpmyxzrJQaM1PCJUEjReo2WZMW6TSaK5mlmFtKikJCjjeZxoVKwBI/LlkSIJgSIKByP9CdO/M83+9z/4D7+APL+/06n3Ne55z3eS/n+fz0XWiw8SqrVRAIxBgREhAGgaxAQCDLk1Z+Cmo2UH98B/4YpIYF+0Ma+m2EoLAibufenRBIE3H1/PFPQPmz5JDIVAjEpEv3MWAlkU9AIA6NiICdB89GS4DRWl+sLWtmepQDfQZ9hh4LxHwxEsj5ZdUnly6dMq/wt/80LNry0logZMW5/ccv3L5iv0Z07csVwrJ76/jiDnkTO50xvYDtj2SOugvc3o+VUtwpFHd6Rn9vapxyeGhPVzAU/xA33aH0nH4k6+dZJz0yAAk9sKrEHdSSTbaakoLymfNvXSS9oBaCCoedMOKHzHYaQh9+sQxU1EVh89COqrkJIv8zXYPEqyIHqgjmDYSAwvmSO+rf6qkj52ptdWDygYPQdu41XbO2+IA1ugafI3SSv6NuyJV5K8Bv+yVgCVgCloAlYAlYApaAJWAJWAKWgCVgCVgCloAlYAlYAv73gNe8Ue2i0hj893jvV/k6zY8huhvGzzfq7g53XHHUqTb8d+CflzY+vQzNasONXzL33AeTcyafB0MB3w/PdilLaVFYjSiNJ5HwloNjykuIx+kTLPGdRILqiUtWyouUxL1HZLkqupjhLFKQZN7aNyGzi5rpJIasbPqhlyI6nEpNTKf66a48B+nTjAw2o41giS09IubVy+qq2hNZ71lkzYdbcjj3ad6bdkE5Kmmso0H3RKF8XsZOwk4UMOT1SegRnKBsu7N2YZrAVI2bEtrkP5Pm31yfKWWLG5mLwlatvJGA57epsmqEkykUGrsbQ1gQI5OsvZzhiixAbtF+NdamWNrEsuPTyws9BjW1cw7Y55QnwyaQ8yWV0U7Mq/j6DC6RMD+R1hHnsddr2oqDz+B+FVBqg2hAXbjPB+rZsZzOSYGfsl1yIc4rSwjOkDnRvMoJi7O9UeiSOb6a39gj9CYOKdYFJ5QQJqxH5/5+8+AVC2Vg+zRDk/ZpQ3Ejg/fIA7CIIOasMvVIzISz+UI7h4imXPwAl8aTD8a0d7NlUb+kki4cGsT3ugRTl0PGJsnm1+0I8zNphPi9NCwJK6tDAKwI1cbxp3l36fsHA6l+5uGGv2AfHEaKb1NKTh4yfAkYnC7zcYXe4mFtU/FHo9FKH29O5Np1QSJNbAjZ/pAyHI88jhqOc2jOFYpmXPud7r9zJclnVGwCw/ibrgbWb4GF+8WujFGvqHrZWV/SlvzM9XG3bVNbb/ENIMmpHMtWIOvFEEbsJ56MLKE10rHMlXlv/tHNX3P9mhX2Bgz6Tvp6Tz47FPiqR9Pwgz8+qrtWnVX6dv+GmICrV41jirfama6zL4i7xGFrpPwoYl6OcyWjkSWsEAY5FbnQEwS+qB/IsZie8nZbCMRrF/5QIJX4MAhQs2k4XpUC3yiSIQLyv7UyrAPaIjvC4Mz80ZrlspTWZYJBIN0h3+niTjzTyDh2DzxXPFUFX7shDRbkTM+Nqd6O0ThXZviV76JORXqxfcD+sbLSXdTTkPMttdToOlVqSAEN7QrOqPIcfy91sXoNwjne5kHaxMmei5xIW4vBsxfeULhAerp7PmYQGZA/gf13B7reGsbj4JrI7QtutNjlkDqgGE5+OIC+CAKHuUwfaWvn138Qrhjxb0IVr3KUR34OxO1PjpYXFPns6SMhwgqJVM5NlTvipMfCWfpuS5J5WOE1sZUCv+kpg/VbbGHKFCZ9e76vZopS4jVyNkam4CchvY0wf1LY53V0042bia8gEJRitseFqglE8dCXQQbFHWpRrSTNmxeV49gz/jKl8DlowbZfIDafn1IP3seOwfxcU7+3e3TGrqVsy/pcTZU0x8x/sz9nIcwM9WOd2V6R+MpnMl8sLDWT7OrGphito+wCN8yp0q6weriAvg5Rfvb1T30k7bxAC+Nrt89PejHjq2F3jyjqSgQ3oqj3sqWzL77J4PVRbJxpxieBZgMITzSs3fk+movO0ZHjxoxt1Qr3O7bf3TZmY0iiO42KXHOpr5xsaX4NoWjxue3fWu4/kVvr6tbNfWU9Mau6eCR4h+VAnxJYaYXF4QFze1HWtLOLeVRQlGClC2u4AF8x2UwTxNQgj0Ez33dqy4UlEiVQ5MhUcxtbJ0SzeMIcLRa0o7Satxx0TYU1U/wHPT/1u0r0DlEV7JDeImi9TE29OblAtEfgxlD8IkhpIag/DOwbbWJ67nOvXXiZYgu8+hUb5dHAcGbZvtDPZQP2SIKtoKcbXScnk1AwkSD0WqMkYpTNb+LIeW9bmDA2BZOHdjs6CZrvmrEpkKWl2Z1sdeDLvQdEaG/Z+9+3ND40qDiiOO2z4Cxf3b7xicVkyoRgpmVAR9A9+zDVjYN+aX7JRFhgDHkQJI9cCyw+a0ozdljLWRxvqFCEm0btkyh5c03E9mGWddwhIiTlamJGLw1nYtllszmBgGecHilEmngwFIOoW8r4Lbc4rq0sxvHRmU43Z7XKceNnyWmArOl3mcVmI8yAET37rUt/4isKbugevusMTYWq1m1pdfbM/V8foUWmk4G7EPp1wsn6vPj4igMcV5Phb5/kqZrNEJML7FVWE3XvzLwSbjXGxT+y9yTd2y/jfafByx6yRK1PdZbhxlFf60kLzHdjuE/WyBvwQ2Y/FbidOj2K50s3ipqeo3/Gf1yiCe/td7NmpDmQSk9iRVYTz4Xf0JzeU/5NNUli3T0n/cgqDjcU+4vy8OCZ51QA0/Mp5PuS2rkkTw8n02esV7ZyvDni9ySChi9562DDeTC9g1Aa5WaYZ3aiQHPxDzY4C3FmXkhYd5rNgAv1uE+EYw0riLpXYYY4TxGXE2PIcCdg7niWBmGsWZWhP+4Pkiwm6I1l4PoklocumHWcsv9ab9pVfNNt4cYtpEhDcew/iec673ezDWewN5AFA7liYbaPUS5lX3fWyJWVgm0ZbeC4VglR4laumrv6Jn3j0zPfZ183y064xd5TVLYl/2ZiyZRD/tRMNXwhXlYJXTilOX+LG+vRUGLYdkCZabMrIj/OIyvz3YAFTbj7/1CK4U7fls6G6jdIqLgY2oKygG7bZvI6eIxc8XpnmS1smnStR3yM4En6cuvr3fh6HMr7g0KGp6G3iid97mbTgJgOFCw9MB8H65kNfKZCe3pk2XldcWyyuW6bbgmoMZvPcy7KxUitelIDJhyTT78iPepzIPo2q0QRTFpZkNOFLnDnLAqYAemWhD0J77oL9ayOj7p2pyO3A81xgC+LDC+XG57EpT1toOzV+8y+SqLfkHR12Z1s1Z58s2XZKZ/Do8esO4+1uxzpqli+kHIyUDJ4jTrkpF3e+/UfRJvsJnql6vbsJjQYMjPLVGiFRy+JtTVXksHNu2tnDXi+CnaMnOOPLrbixi4Ytm64a0em+8p63fnxCUPF1XTnMSbIc+4eTXyTfi/F6ge85D9MH5QmLg4JC2DgMCfmx8nHTb6Ut2RFhyI/Uv3WpYOjp4o3fNcD2s2icJbJt0m9DSflnZlafO8MeBZhZTZhXd8TVXtuWIX+5DgBXcN5mGpzmPFbekNIGPGafnOdOEUbR0GHyXd9UROPKpfSzmtF5UQZIblI+xIjavfMbvA11S9W2czvj//qC1JzcSVcaKEaN98pqprWewMwUTtIh2PqrBS2t9PzTjwKr8o2M0kgL1BoDffckJZxNzjJU0VcOoYfAz4eYixDlytZhXknolkVG0PQpKH19xiNuO5zLsg532DQ+AOoMBMzxCYwnVIr0H9PXeHTXcicf9vnQlD19KEaO7o9ZDKSNlPTujmtFpkMyN6uBR1H7yf4iL/VCF6uNJBjRw0P64PjVBiTzDpDn6E7u3zc9eJdT30xA2m6M1ppCp9//ys087BoLBNZR8a/Lq5SPJnsEd9mOkM1zfIFZ1nmOuPutw72Rw9SYScB38scyeFEIhiZo/z6l9XMxNgWJBQPbZIvzAb2p8BaSHBna76yufMUmeUP20STpFwJ2VpjeqKebV+0PKRmuzKdqQEO4Zk22o5pfJLsfZcp1XB8WENzfSyhCXq+1geMbIcAzneB7eUxXWe1ry1EKl4U+5k+NOxbOFOP5AFtVrSeb/VH7esEvtPlRJo+1sonS5JaNQGoQX0IGNLH2lbvbjDWpu+i+lEa8RIUP4IogIRxUbjvogr7Bjjxvkj1i0Lpreviipxlww0ZjNI7GX4m4f0sjU+68bqw7ni85i9hnd1UcDzeCHiody9Tl8yjTylzeHV8E9BKPTKk7YIhSbJT3okz2gXl6Hr47vTvogoG8DM5yNPVEyODgQaJgzBk6HMYNA7bHfSEpZJ4eXDY2N+Bpmr7tL8M4Zb2Sb4VTUjXpy4TRPiI1Lo+nApGa19UuLZv8k4SxTIg/6eQM+7Y/ef5WHbhAQyblfpOfzgu688LKIBGmDbN1C7e8yO9oQlbO0GvXD+CVwJp1qX+jkWYJGqNctHF9L64GWeVRG0fof3t48r75cDDWnITX7nrstyTZPbdd4o8HvmIFmRl1TE/2yNRk3Y7FnGYsxK/NvkTc+T8h/M0BvJ6o2liPeETX+jZVDzm35w4mmV0wZvwbZMdlxMNIY/7ZiKnUoHVH5PlvnCpptwG4ZcTsYM9fisiXPv+Mvy06cpCszc3GjPfbikhLX6olhh4K1vhizPE9BUGicqxi6atYKelmpssmvRwEHWqSJf4UjiRWmDxxWFOXDJGDKuNp+EG70gnEjtcRG9CzkShhptihaCzUUzmBdvFx4RUV9XjaOJli40j0LPX4WHYsupHymcSCKTNp3/hNQdI602RFrPJPqyci18F54vn7LfHdnUoRzL47E0qaTqTH5Q3XhRX/ir0wADPF8CCFV9yOnd1CMroS5adoMFjLXdb2cSTzp8dED6DW24LkvMiwrec4wh+5vCNROKtN+bHDOEvGcYV3Z/pSjtlqxhjlJF7gJiapFaTXvvnvak6K7xX6EmEKV4qkMvZomarwT6wpIMc3ff/FIT1YC0Elaz8z8so+/xUd/98GUU+TdDS/xRbno6d1lWkY1X3ncO6PPM579mERUrZ56DqWP39y7njAyFhXcxFeWMfC0oY7teVsA/Wc+H3L84TXp5eXN752Gxggb/7tm5gRGBoQIP/sX/8C1BLAwQUAAIACAAhTXtIKwvAbUoAAABrAAAAGwAAAHVuaXZlcnNhbC91bml2ZXJzYWwucG5nLnhtbLOxr8jNUShLLSrOzM+zVTLUM1Cyt+PlsikoSi3LTC1XqACKGekZQICSQiUqtzwzpSQDKGRgbowQzEjNTM8osVWyMDCFC+oDzQQAUEsBAgAAFAACAAgAQ5RXRw3AMR7AAQAA2gMAAA8AAAAAAAAAAQAAAAAAAAAAAG5vbmUvcGxheWVyLnhtbFBLAQIAABQAAgAIACBNe0gVDq0oZAQAAAcRAAAdAAAAAAAAAAEAAAAAAO0BAAB1bml2ZXJzYWwvY29tbW9uX21lc3NhZ2VzLmxuZ1BLAQIAABQAAgAIACBNe0gIfgsjKQMAAIYMAAAnAAAAAAAAAAEAAAAAAIwGAAB1bml2ZXJzYWwvZmxhc2hfcHVibGlzaGluZ19zZXR0aW5ncy54bWxQSwECAAAUAAIACAAgTXtIfh21ZrcCAABQCgAAIQAAAAAAAAABAAAAAAD6CQAAdW5pdmVyc2FsL2ZsYXNoX3NraW5fc2V0dGluZ3MueG1sUEsBAgAAFAACAAgAIE17SCqWD2f+AgAAlwsAACYAAAAAAAAAAQAAAAAA8AwAAHVuaXZlcnNhbC9odG1sX3B1Ymxpc2hpbmdfc2V0dGluZ3MueG1sUEsBAgAAFAACAAgAIE17SP7ZBl2gAQAALQYAAB8AAAAAAAAAAQAAAAAAMhAAAHVuaXZlcnNhbC9odG1sX3NraW5fc2V0dGluZ3MuanNQSwECAAAUAAIACAAgTXtIPTwv0cEAAADlAQAAGgAAAAAAAAABAAAAAAAPEgAAdW5pdmVyc2FsL2kxOG5fcHJlc2V0cy54bWxQSwECAAAUAAIACAAgTXtIDNK2rG4AAABuAAAAHAAAAAAAAAABAAAAAAAIEwAAdW5pdmVyc2FsL2xvY2FsX3NldHRpbmdzLnhtbFBLAQIAABQAAgAIAESUV0cjtE77+wIAALAIAAAUAAAAAAAAAAEAAAAAALATAAB1bml2ZXJzYWwvcGxheWVyLnhtbFBLAQIAABQAAgAIACBNe0g129mtaAEAAPMCAAApAAAAAAAAAAEAAAAAAN0WAAB1bml2ZXJzYWwvc2tpbl9jdXN0b21pemF0aW9uX3NldHRpbmdzLnhtbFBLAQIAABQAAgAIACFNe0iHSjuWQg8AABokAAAXAAAAAAAAAAAAAAAAAIwYAAB1bml2ZXJzYWwvdW5pdmVyc2FsLnBuZ1BLAQIAABQAAgAIACFNe0grC8BtSgAAAGsAAAAbAAAAAAAAAAEAAAAAAAMoAAB1bml2ZXJzYWwvdW5pdmVyc2FsLnBuZy54bWxQSwUGAAAAAAwADACGAwAAhigAAAAA"/>
  <p:tag name="ISPRING_PRESENTATION_TITLE" val="1584"/>
  <p:tag name="ISPRING_SCORM_ENDPOINT" val="&lt;endpoint&gt;&lt;enable&gt;0&lt;/enable&gt;&lt;lrs&gt;http://&lt;/lrs&gt;&lt;auth&gt;0&lt;/auth&gt;&lt;login&gt;&lt;/login&gt;&lt;password&gt;&lt;/password&gt;&lt;key&gt;&lt;/key&gt;&lt;name&gt;&lt;/name&gt;&lt;email&gt;&lt;/email&gt;&lt;/endpoint&gt;&#10;"/>
</p:tagLst>
</file>

<file path=ppt/theme/theme1.xml><?xml version="1.0" encoding="utf-8"?>
<a:theme xmlns:a="http://schemas.openxmlformats.org/drawingml/2006/main" name="Nordri Tools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366">
      <a:dk1>
        <a:sysClr val="windowText" lastClr="000000"/>
      </a:dk1>
      <a:lt1>
        <a:sysClr val="window" lastClr="FFFFFF"/>
      </a:lt1>
      <a:dk2>
        <a:srgbClr val="44546A"/>
      </a:dk2>
      <a:lt2>
        <a:srgbClr val="E7E6E6"/>
      </a:lt2>
      <a:accent1>
        <a:srgbClr val="314371"/>
      </a:accent1>
      <a:accent2>
        <a:srgbClr val="314371"/>
      </a:accent2>
      <a:accent3>
        <a:srgbClr val="314371"/>
      </a:accent3>
      <a:accent4>
        <a:srgbClr val="314371"/>
      </a:accent4>
      <a:accent5>
        <a:srgbClr val="314371"/>
      </a:accent5>
      <a:accent6>
        <a:srgbClr val="314371"/>
      </a:accent6>
      <a:hlink>
        <a:srgbClr val="0563C1"/>
      </a:hlink>
      <a:folHlink>
        <a:srgbClr val="954F72"/>
      </a:folHlink>
    </a:clrScheme>
    <a:fontScheme name="自定义 2">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sz="4000" dirty="0" smtClean="0">
            <a:latin typeface="+mj-ea"/>
            <a:ea typeface="+mj-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3436</Words>
  <Application>WPS 演示</Application>
  <PresentationFormat>宽屏</PresentationFormat>
  <Paragraphs>181</Paragraphs>
  <Slides>19</Slides>
  <Notes>16</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19</vt:i4>
      </vt:variant>
    </vt:vector>
  </HeadingPairs>
  <TitlesOfParts>
    <vt:vector size="34" baseType="lpstr">
      <vt:lpstr>Arial</vt:lpstr>
      <vt:lpstr>宋体</vt:lpstr>
      <vt:lpstr>Wingdings</vt:lpstr>
      <vt:lpstr>微软雅黑</vt:lpstr>
      <vt:lpstr>Calibri</vt:lpstr>
      <vt:lpstr>Arial</vt:lpstr>
      <vt:lpstr>Calibri</vt:lpstr>
      <vt:lpstr>-apple-system</vt:lpstr>
      <vt:lpstr>Segoe Print</vt:lpstr>
      <vt:lpstr>Arial Unicode MS</vt:lpstr>
      <vt:lpstr>等线 Light</vt:lpstr>
      <vt:lpstr>等线</vt:lpstr>
      <vt:lpstr>-apple-system</vt:lpstr>
      <vt:lpstr>Nordri ToolsTheme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小二的PPT</dc:creator>
  <cp:keywords>www.51pptmoban.com</cp:keywords>
  <cp:lastModifiedBy>Doy</cp:lastModifiedBy>
  <cp:revision>188</cp:revision>
  <dcterms:created xsi:type="dcterms:W3CDTF">2016-03-26T10:00:00Z</dcterms:created>
  <dcterms:modified xsi:type="dcterms:W3CDTF">2025-12-25T05:13:25Z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6050376</vt:lpwstr>
  </property>
  <property fmtid="{D5CDD505-2E9C-101B-9397-08002B2CF9AE}" pid="3" name="NXPowerLiteSettings">
    <vt:lpwstr>C700052003A000</vt:lpwstr>
  </property>
  <property fmtid="{D5CDD505-2E9C-101B-9397-08002B2CF9AE}" pid="4" name="NXPowerLiteVersion">
    <vt:lpwstr>D8.0.2</vt:lpwstr>
  </property>
  <property fmtid="{D5CDD505-2E9C-101B-9397-08002B2CF9AE}" pid="5" name="ICV">
    <vt:lpwstr>6E170093DCEC40BD915E6E8F79D93BE8_12</vt:lpwstr>
  </property>
  <property fmtid="{D5CDD505-2E9C-101B-9397-08002B2CF9AE}" pid="6" name="KSOProductBuildVer">
    <vt:lpwstr>2052-12.1.0.24034</vt:lpwstr>
  </property>
</Properties>
</file>